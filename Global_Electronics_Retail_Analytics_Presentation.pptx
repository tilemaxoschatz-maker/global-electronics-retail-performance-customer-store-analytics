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USD</c:v>
                </c:pt>
              </c:strCache>
            </c:strRef>
          </c:tx>
          <c:spPr>
            <a:solidFill>
              <a:srgbClr val="397B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2016</c:v>
                  </c:pt>
                  <c:pt idx="1">
                    <c:v>2017</c:v>
                  </c:pt>
                  <c:pt idx="2">
                    <c:v>2018</c:v>
                  </c:pt>
                  <c:pt idx="3">
                    <c:v>2019</c:v>
                  </c:pt>
                  <c:pt idx="4">
                    <c:v>2020</c:v>
                  </c:pt>
                  <c:pt idx="5">
                    <c:v>2021</c:v>
                  </c:pt>
                </c:lvl>
              </c:multiLvlStrCache>
            </c:multiLvlStrRef>
          </c:cat>
          <c:val>
            <c:numRef>
              <c:f>Sheet1!$B$2:$B$7</c:f>
              <c:numCache>
                <c:formatCode>General</c:formatCode>
                <c:ptCount val="6"/>
                <c:pt idx="0">
                  <c:v>6.9468</c:v>
                </c:pt>
                <c:pt idx="1">
                  <c:v>7.4214</c:v>
                </c:pt>
                <c:pt idx="2">
                  <c:v>12.789</c:v>
                </c:pt>
                <c:pt idx="3">
                  <c:v>18.2644</c:v>
                </c:pt>
                <c:pt idx="4">
                  <c:v>9.2946</c:v>
                </c:pt>
                <c:pt idx="5">
                  <c:v>1.0393</c:v>
                </c:pt>
              </c:numCache>
            </c:numRef>
          </c:val>
        </c:ser>
        <c:ser>
          <c:idx val="1"/>
          <c:order val="1"/>
          <c:tx>
            <c:strRef>
              <c:f>Sheet1!$C$1</c:f>
              <c:strCache>
                <c:ptCount val="1"/>
                <c:pt idx="0">
                  <c:v>Profit USD</c:v>
                </c:pt>
              </c:strCache>
            </c:strRef>
          </c:tx>
          <c:spPr>
            <a:solidFill>
              <a:srgbClr val="E8473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2016</c:v>
                  </c:pt>
                  <c:pt idx="1">
                    <c:v>2017</c:v>
                  </c:pt>
                  <c:pt idx="2">
                    <c:v>2018</c:v>
                  </c:pt>
                  <c:pt idx="3">
                    <c:v>2019</c:v>
                  </c:pt>
                  <c:pt idx="4">
                    <c:v>2020</c:v>
                  </c:pt>
                  <c:pt idx="5">
                    <c:v>2021</c:v>
                  </c:pt>
                </c:lvl>
              </c:multiLvlStrCache>
            </c:multiLvlStrRef>
          </c:cat>
          <c:val>
            <c:numRef>
              <c:f>Sheet1!$C$2:$C$7</c:f>
              <c:numCache>
                <c:formatCode>General</c:formatCode>
                <c:ptCount val="6"/>
                <c:pt idx="0">
                  <c:v>4.107</c:v>
                </c:pt>
                <c:pt idx="1">
                  <c:v>4.3371</c:v>
                </c:pt>
                <c:pt idx="2">
                  <c:v>7.465</c:v>
                </c:pt>
                <c:pt idx="3">
                  <c:v>10.6977</c:v>
                </c:pt>
                <c:pt idx="4">
                  <c:v>5.4475</c:v>
                </c:pt>
                <c:pt idx="5">
                  <c:v>0.6085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12700" cap="flat">
              <a:solidFill>
                <a:srgbClr val="D6DE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5"/>
      </c:valAx>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USD</c:v>
                </c:pt>
              </c:strCache>
            </c:strRef>
          </c:tx>
          <c:spPr>
            <a:solidFill>
              <a:srgbClr val="397BDB"/>
            </a:solidFill>
            <a:ln w="38100" cap="flat">
              <a:solidFill>
                <a:srgbClr val="397BD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397BDB"/>
              </a:solidFill>
              <a:ln w="9525" cap="flat">
                <a:solidFill>
                  <a:srgbClr val="397BDB"/>
                </a:solidFill>
                <a:prstDash val="solid"/>
                <a:round/>
              </a:ln>
              <a:effectLst/>
            </c:spPr>
          </c:marker>
          <c:cat>
            <c:multiLvlStrRef>
              <c:f>Sheet1!$A$2:$A$7</c:f>
              <c:multiLvlStrCache>
                <c:ptCount val="6"/>
                <c:lvl>
                  <c:pt idx="0">
                    <c:v>2016</c:v>
                  </c:pt>
                  <c:pt idx="1">
                    <c:v>2017</c:v>
                  </c:pt>
                  <c:pt idx="2">
                    <c:v>2018</c:v>
                  </c:pt>
                  <c:pt idx="3">
                    <c:v>2019</c:v>
                  </c:pt>
                  <c:pt idx="4">
                    <c:v>2020</c:v>
                  </c:pt>
                  <c:pt idx="5">
                    <c:v>2021</c:v>
                  </c:pt>
                </c:lvl>
              </c:multiLvlStrCache>
            </c:multiLvlStrRef>
          </c:cat>
          <c:val>
            <c:numRef>
              <c:f>Sheet1!$B$2:$B$7</c:f>
              <c:numCache>
                <c:formatCode>General</c:formatCode>
                <c:ptCount val="6"/>
                <c:pt idx="0">
                  <c:v>6.9468</c:v>
                </c:pt>
                <c:pt idx="1">
                  <c:v>7.4214</c:v>
                </c:pt>
                <c:pt idx="2">
                  <c:v>12.789</c:v>
                </c:pt>
                <c:pt idx="3">
                  <c:v>18.2644</c:v>
                </c:pt>
                <c:pt idx="4">
                  <c:v>9.2946</c:v>
                </c:pt>
                <c:pt idx="5">
                  <c:v>1.0393</c:v>
                </c:pt>
              </c:numCache>
            </c:numRef>
          </c:val>
          <c:smooth val="0"/>
        </c:ser>
        <c:ser>
          <c:idx val="1"/>
          <c:order val="1"/>
          <c:tx>
            <c:strRef>
              <c:f>Sheet1!$C$1</c:f>
              <c:strCache>
                <c:ptCount val="1"/>
                <c:pt idx="0">
                  <c:v>Profit USD</c:v>
                </c:pt>
              </c:strCache>
            </c:strRef>
          </c:tx>
          <c:spPr>
            <a:solidFill>
              <a:srgbClr val="E8473F"/>
            </a:solidFill>
            <a:ln w="38100" cap="flat">
              <a:solidFill>
                <a:srgbClr val="E8473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E8473F"/>
              </a:solidFill>
              <a:ln w="9525" cap="flat">
                <a:solidFill>
                  <a:srgbClr val="E8473F"/>
                </a:solidFill>
                <a:prstDash val="solid"/>
                <a:round/>
              </a:ln>
              <a:effectLst/>
            </c:spPr>
          </c:marker>
          <c:cat>
            <c:multiLvlStrRef>
              <c:f>Sheet1!$A$2:$A$7</c:f>
              <c:multiLvlStrCache>
                <c:ptCount val="6"/>
                <c:lvl>
                  <c:pt idx="0">
                    <c:v>2016</c:v>
                  </c:pt>
                  <c:pt idx="1">
                    <c:v>2017</c:v>
                  </c:pt>
                  <c:pt idx="2">
                    <c:v>2018</c:v>
                  </c:pt>
                  <c:pt idx="3">
                    <c:v>2019</c:v>
                  </c:pt>
                  <c:pt idx="4">
                    <c:v>2020</c:v>
                  </c:pt>
                  <c:pt idx="5">
                    <c:v>2021</c:v>
                  </c:pt>
                </c:lvl>
              </c:multiLvlStrCache>
            </c:multiLvlStrRef>
          </c:cat>
          <c:val>
            <c:numRef>
              <c:f>Sheet1!$C$2:$C$7</c:f>
              <c:numCache>
                <c:formatCode>General</c:formatCode>
                <c:ptCount val="6"/>
                <c:pt idx="0">
                  <c:v>4.107</c:v>
                </c:pt>
                <c:pt idx="1">
                  <c:v>4.3371</c:v>
                </c:pt>
                <c:pt idx="2">
                  <c:v>7.465</c:v>
                </c:pt>
                <c:pt idx="3">
                  <c:v>10.6977</c:v>
                </c:pt>
                <c:pt idx="4">
                  <c:v>5.4475</c:v>
                </c:pt>
                <c:pt idx="5">
                  <c:v>0.6085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12700" cap="flat">
              <a:solidFill>
                <a:srgbClr val="D8E0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5"/>
      </c:valAx>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USD</c:v>
                </c:pt>
              </c:strCache>
            </c:strRef>
          </c:tx>
          <c:spPr>
            <a:solidFill>
              <a:srgbClr val="397BDB"/>
            </a:solidFill>
            <a:effectLst/>
          </c:spPr>
          <c:invertIfNegative val="0"/>
          <c:dLbls>
            <c:numFmt formatCode="#,##0" sourceLinked="0"/>
            <c:txPr>
              <a:bodyPr/>
              <a:lstStyle/>
              <a:p>
                <a:pPr>
                  <a:defRPr b="0" i="0" strike="noStrike" sz="1200" u="none">
                    <a:solidFill>
                      <a:srgbClr val="000000"/>
                    </a:solidFill>
                    <a:latin typeface="Arial"/>
                  </a:defRPr>
                </a:pPr>
              </a:p>
            </c:txPr>
            <c:dLblPos val="inEnd"/>
            <c:showLegendKey val="0"/>
            <c:showVal val="1"/>
            <c:showCatName val="0"/>
            <c:showSerName val="0"/>
            <c:showPercent val="0"/>
            <c:showBubbleSize val="0"/>
            <c:showLeaderLines val="0"/>
          </c:dLbls>
          <c:cat>
            <c:multiLvlStrRef>
              <c:f>Sheet1!$A$2:$A$9</c:f>
              <c:multiLvlStrCache>
                <c:ptCount val="8"/>
                <c:lvl>
                  <c:pt idx="0">
                    <c:v>Computers</c:v>
                  </c:pt>
                  <c:pt idx="1">
                    <c:v>Home Appliances</c:v>
                  </c:pt>
                  <c:pt idx="2">
                    <c:v>Cameras &amp; Camcorders</c:v>
                  </c:pt>
                  <c:pt idx="3">
                    <c:v>Cell Phones</c:v>
                  </c:pt>
                  <c:pt idx="4">
                    <c:v>TV &amp; Video</c:v>
                  </c:pt>
                  <c:pt idx="5">
                    <c:v>Audio</c:v>
                  </c:pt>
                  <c:pt idx="6">
                    <c:v>Music &amp; Books</c:v>
                  </c:pt>
                  <c:pt idx="7">
                    <c:v>Games &amp; Toys</c:v>
                  </c:pt>
                </c:lvl>
              </c:multiLvlStrCache>
            </c:multiLvlStrRef>
          </c:cat>
          <c:val>
            <c:numRef>
              <c:f>Sheet1!$B$2:$B$9</c:f>
              <c:numCache>
                <c:formatCode>General</c:formatCode>
                <c:ptCount val="8"/>
                <c:pt idx="0">
                  <c:v>19.3016</c:v>
                </c:pt>
                <c:pt idx="1">
                  <c:v>10.7955</c:v>
                </c:pt>
                <c:pt idx="2">
                  <c:v>6.5202</c:v>
                </c:pt>
                <c:pt idx="3">
                  <c:v>6.1838</c:v>
                </c:pt>
                <c:pt idx="4">
                  <c:v>5.929</c:v>
                </c:pt>
                <c:pt idx="5">
                  <c:v>3.1696</c:v>
                </c:pt>
                <c:pt idx="6">
                  <c:v>3.131</c:v>
                </c:pt>
                <c:pt idx="7">
                  <c:v>0.7248</c:v>
                </c:pt>
              </c:numCache>
            </c:numRef>
          </c:val>
        </c:ser>
        <c:dLbls>
          <c:numFmt formatCode="#,##0" sourceLinked="0"/>
          <c:txPr>
            <a:bodyPr/>
            <a:lstStyle/>
            <a:p>
              <a:pPr>
                <a:defRPr b="0" i="0" strike="noStrike" sz="1200" u="none">
                  <a:solidFill>
                    <a:srgbClr val="000000"/>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
          <c:min val="0"/>
        </c:scaling>
        <c:delete val="0"/>
        <c:axPos val="l"/>
        <c:majorGridlines>
          <c:spPr>
            <a:ln w="12700" cap="flat">
              <a:solidFill>
                <a:srgbClr val="D8E0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Profit USD</c:v>
                </c:pt>
              </c:strCache>
            </c:strRef>
          </c:tx>
          <c:spPr>
            <a:solidFill>
              <a:srgbClr val="27561B"/>
            </a:solidFill>
            <a:effectLst/>
          </c:spPr>
          <c:invertIfNegative val="0"/>
          <c:dLbls>
            <c:numFmt formatCode="#,##0" sourceLinked="0"/>
            <c:txPr>
              <a:bodyPr/>
              <a:lstStyle/>
              <a:p>
                <a:pPr>
                  <a:defRPr b="0" i="0" strike="noStrike" sz="1200" u="none">
                    <a:solidFill>
                      <a:srgbClr val="000000"/>
                    </a:solidFill>
                    <a:latin typeface="Arial"/>
                  </a:defRPr>
                </a:pPr>
              </a:p>
            </c:txPr>
            <c:dLblPos val="inEnd"/>
            <c:showLegendKey val="0"/>
            <c:showVal val="1"/>
            <c:showCatName val="0"/>
            <c:showSerName val="0"/>
            <c:showPercent val="0"/>
            <c:showBubbleSize val="0"/>
            <c:showLeaderLines val="0"/>
          </c:dLbls>
          <c:cat>
            <c:multiLvlStrRef>
              <c:f>Sheet1!$A$2:$A$9</c:f>
              <c:multiLvlStrCache>
                <c:ptCount val="8"/>
                <c:lvl>
                  <c:pt idx="0">
                    <c:v>Computers</c:v>
                  </c:pt>
                  <c:pt idx="1">
                    <c:v>Home Appliances</c:v>
                  </c:pt>
                  <c:pt idx="2">
                    <c:v>Cameras &amp; Camcorders</c:v>
                  </c:pt>
                  <c:pt idx="3">
                    <c:v>Cell Phones</c:v>
                  </c:pt>
                  <c:pt idx="4">
                    <c:v>TV &amp; Video</c:v>
                  </c:pt>
                  <c:pt idx="5">
                    <c:v>Audio</c:v>
                  </c:pt>
                  <c:pt idx="6">
                    <c:v>Music &amp; Books</c:v>
                  </c:pt>
                  <c:pt idx="7">
                    <c:v>Games &amp; Toys</c:v>
                  </c:pt>
                </c:lvl>
              </c:multiLvlStrCache>
            </c:multiLvlStrRef>
          </c:cat>
          <c:val>
            <c:numRef>
              <c:f>Sheet1!$B$2:$B$9</c:f>
              <c:numCache>
                <c:formatCode>General</c:formatCode>
                <c:ptCount val="8"/>
                <c:pt idx="0">
                  <c:v>11.2774</c:v>
                </c:pt>
                <c:pt idx="1">
                  <c:v>6.2963</c:v>
                </c:pt>
                <c:pt idx="2">
                  <c:v>3.9198</c:v>
                </c:pt>
                <c:pt idx="3">
                  <c:v>3.4986</c:v>
                </c:pt>
                <c:pt idx="4">
                  <c:v>3.5367</c:v>
                </c:pt>
                <c:pt idx="5">
                  <c:v>1.8279</c:v>
                </c:pt>
                <c:pt idx="6">
                  <c:v>1.9093</c:v>
                </c:pt>
                <c:pt idx="7">
                  <c:v>0.3967</c:v>
                </c:pt>
              </c:numCache>
            </c:numRef>
          </c:val>
        </c:ser>
        <c:dLbls>
          <c:numFmt formatCode="#,##0" sourceLinked="0"/>
          <c:txPr>
            <a:bodyPr/>
            <a:lstStyle/>
            <a:p>
              <a:pPr>
                <a:defRPr b="0" i="0" strike="noStrike" sz="1200" u="none">
                  <a:solidFill>
                    <a:srgbClr val="000000"/>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12700" cap="flat">
              <a:solidFill>
                <a:srgbClr val="D8E0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USD</c:v>
                </c:pt>
              </c:strCache>
            </c:strRef>
          </c:tx>
          <c:spPr>
            <a:solidFill>
              <a:srgbClr val="27561B"/>
            </a:solidFill>
            <a:effectLst/>
          </c:spPr>
          <c:invertIfNegative val="0"/>
          <c:dLbls>
            <c:numFmt formatCode="#,##0" sourceLinked="0"/>
            <c:txPr>
              <a:bodyPr/>
              <a:lstStyle/>
              <a:p>
                <a:pPr>
                  <a:defRPr b="0" i="0" strike="noStrike" sz="1200" u="none">
                    <a:solidFill>
                      <a:srgbClr val="000000"/>
                    </a:solidFill>
                    <a:latin typeface="Arial"/>
                  </a:defRPr>
                </a:pPr>
              </a:p>
            </c:txPr>
            <c:dLblPos val="inEnd"/>
            <c:showLegendKey val="0"/>
            <c:showVal val="1"/>
            <c:showCatName val="0"/>
            <c:showSerName val="0"/>
            <c:showPercent val="0"/>
            <c:showBubbleSize val="0"/>
            <c:showLeaderLines val="0"/>
          </c:dLbls>
          <c:cat>
            <c:multiLvlStrRef>
              <c:f>Sheet1!$A$2:$A$9</c:f>
              <c:multiLvlStrCache>
                <c:ptCount val="8"/>
                <c:lvl>
                  <c:pt idx="0">
                    <c:v>United States</c:v>
                  </c:pt>
                  <c:pt idx="1">
                    <c:v>United Kingdom</c:v>
                  </c:pt>
                  <c:pt idx="2">
                    <c:v>Germany</c:v>
                  </c:pt>
                  <c:pt idx="3">
                    <c:v>Canada</c:v>
                  </c:pt>
                  <c:pt idx="4">
                    <c:v>Australia</c:v>
                  </c:pt>
                  <c:pt idx="5">
                    <c:v>Italy</c:v>
                  </c:pt>
                  <c:pt idx="6">
                    <c:v>Netherlands</c:v>
                  </c:pt>
                  <c:pt idx="7">
                    <c:v>France</c:v>
                  </c:pt>
                </c:lvl>
              </c:multiLvlStrCache>
            </c:multiLvlStrRef>
          </c:cat>
          <c:val>
            <c:numRef>
              <c:f>Sheet1!$B$2:$B$9</c:f>
              <c:numCache>
                <c:formatCode>General</c:formatCode>
                <c:ptCount val="8"/>
                <c:pt idx="0">
                  <c:v>29.8716</c:v>
                </c:pt>
                <c:pt idx="1">
                  <c:v>7.0841</c:v>
                </c:pt>
                <c:pt idx="2">
                  <c:v>5.4141</c:v>
                </c:pt>
                <c:pt idx="3">
                  <c:v>4.7243</c:v>
                </c:pt>
                <c:pt idx="4">
                  <c:v>2.7081</c:v>
                </c:pt>
                <c:pt idx="5">
                  <c:v>2.4756</c:v>
                </c:pt>
                <c:pt idx="6">
                  <c:v>1.9622</c:v>
                </c:pt>
                <c:pt idx="7">
                  <c:v>1.5153</c:v>
                </c:pt>
              </c:numCache>
            </c:numRef>
          </c:val>
        </c:ser>
        <c:dLbls>
          <c:numFmt formatCode="#,##0" sourceLinked="0"/>
          <c:txPr>
            <a:bodyPr/>
            <a:lstStyle/>
            <a:p>
              <a:pPr>
                <a:defRPr b="0" i="0" strike="noStrike" sz="1200" u="none">
                  <a:solidFill>
                    <a:srgbClr val="000000"/>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
        </c:scaling>
        <c:delete val="0"/>
        <c:axPos val="l"/>
        <c:majorGridlines>
          <c:spPr>
            <a:ln w="12700" cap="flat">
              <a:solidFill>
                <a:srgbClr val="D8E0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USD</c:v>
                </c:pt>
              </c:strCache>
            </c:strRef>
          </c:tx>
          <c:spPr>
            <a:solidFill>
              <a:srgbClr val="397BDB"/>
            </a:solidFill>
            <a:effectLst/>
          </c:spPr>
          <c:invertIfNegative val="0"/>
          <c:dLbls>
            <c:numFmt formatCode="#,##0" sourceLinked="0"/>
            <c:txPr>
              <a:bodyPr/>
              <a:lstStyle/>
              <a:p>
                <a:pPr>
                  <a:defRPr b="0" i="0" strike="noStrike" sz="1200" u="none">
                    <a:solidFill>
                      <a:srgbClr val="000000"/>
                    </a:solidFill>
                    <a:latin typeface="Arial"/>
                  </a:defRPr>
                </a:pPr>
              </a:p>
            </c:txPr>
            <c:dLblPos val="inEnd"/>
            <c:showLegendKey val="0"/>
            <c:showVal val="1"/>
            <c:showCatName val="0"/>
            <c:showSerName val="0"/>
            <c:showPercent val="0"/>
            <c:showBubbleSize val="0"/>
            <c:showLeaderLines val="0"/>
          </c:dLbls>
          <c:cat>
            <c:multiLvlStrRef>
              <c:f>Sheet1!$A$2:$A$11</c:f>
              <c:multiLvlStrCache>
                <c:ptCount val="10"/>
                <c:lvl>
                  <c:pt idx="0">
                    <c:v>Nevada</c:v>
                  </c:pt>
                  <c:pt idx="1">
                    <c:v>Kansas</c:v>
                  </c:pt>
                  <c:pt idx="2">
                    <c:v>Nebraska</c:v>
                  </c:pt>
                  <c:pt idx="3">
                    <c:v>NW Territories</c:v>
                  </c:pt>
                  <c:pt idx="4">
                    <c:v>New Mexico</c:v>
                  </c:pt>
                  <c:pt idx="5">
                    <c:v>Connecticut</c:v>
                  </c:pt>
                  <c:pt idx="6">
                    <c:v>South Carolina</c:v>
                  </c:pt>
                  <c:pt idx="7">
                    <c:v>Oregon</c:v>
                  </c:pt>
                  <c:pt idx="8">
                    <c:v>Washington DC</c:v>
                  </c:pt>
                  <c:pt idx="9">
                    <c:v>Alaska</c:v>
                  </c:pt>
                </c:lvl>
              </c:multiLvlStrCache>
            </c:multiLvlStrRef>
          </c:cat>
          <c:val>
            <c:numRef>
              <c:f>Sheet1!$B$2:$B$11</c:f>
              <c:numCache>
                <c:formatCode>General</c:formatCode>
                <c:ptCount val="10"/>
                <c:pt idx="0">
                  <c:v>1.4179</c:v>
                </c:pt>
                <c:pt idx="1">
                  <c:v>1.3947</c:v>
                </c:pt>
                <c:pt idx="2">
                  <c:v>1.3844</c:v>
                </c:pt>
                <c:pt idx="3">
                  <c:v>1.3362</c:v>
                </c:pt>
                <c:pt idx="4">
                  <c:v>1.3256</c:v>
                </c:pt>
                <c:pt idx="5">
                  <c:v>1.3188</c:v>
                </c:pt>
                <c:pt idx="6">
                  <c:v>1.3057</c:v>
                </c:pt>
                <c:pt idx="7">
                  <c:v>1.3023</c:v>
                </c:pt>
                <c:pt idx="8">
                  <c:v>1.2594</c:v>
                </c:pt>
                <c:pt idx="9">
                  <c:v>1.2503</c:v>
                </c:pt>
              </c:numCache>
            </c:numRef>
          </c:val>
        </c:ser>
        <c:dLbls>
          <c:numFmt formatCode="#,##0" sourceLinked="0"/>
          <c:txPr>
            <a:bodyPr/>
            <a:lstStyle/>
            <a:p>
              <a:pPr>
                <a:defRPr b="0" i="0" strike="noStrike" sz="1200" u="none">
                  <a:solidFill>
                    <a:srgbClr val="000000"/>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
        </c:scaling>
        <c:delete val="0"/>
        <c:axPos val="l"/>
        <c:majorGridlines>
          <c:spPr>
            <a:ln w="12700" cap="flat">
              <a:solidFill>
                <a:srgbClr val="D8E0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27561B"/>
              </a:solidFill>
              <a:effectLst/>
            </c:spPr>
          </c:dPt>
          <c:dPt>
            <c:idx val="1"/>
            <c:bubble3D val="0"/>
            <c:spPr>
              <a:solidFill>
                <a:srgbClr val="397BDB"/>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1"/>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Physical Store</c:v>
                </c:pt>
                <c:pt idx="1">
                  <c:v>Online</c:v>
                </c:pt>
              </c:strCache>
            </c:strRef>
          </c:cat>
          <c:val>
            <c:numRef>
              <c:f>Sheet1!$B$2:$B$3</c:f>
              <c:numCache>
                <c:ptCount val="2"/>
                <c:pt idx="0">
                  <c:v>44.3512</c:v>
                </c:pt>
                <c:pt idx="1">
                  <c:v>11.4043</c:v>
                </c:pt>
              </c:numCache>
            </c:numRef>
          </c:val>
        </c:ser>
        <c:firstSliceAng val="0"/>
        <c:holeSize val="55"/>
      </c:doughnutChart>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Average Delivery Days</c:v>
                </c:pt>
              </c:strCache>
            </c:strRef>
          </c:tx>
          <c:spPr>
            <a:solidFill>
              <a:srgbClr val="2A2A2A"/>
            </a:solidFill>
            <a:ln w="38100" cap="flat">
              <a:solidFill>
                <a:srgbClr val="2A2A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2A2A2A"/>
              </a:solidFill>
              <a:ln w="9525" cap="flat">
                <a:solidFill>
                  <a:srgbClr val="2A2A2A"/>
                </a:solidFill>
                <a:prstDash val="solid"/>
                <a:round/>
              </a:ln>
              <a:effectLst/>
            </c:spPr>
          </c:marker>
          <c:cat>
            <c:multiLvlStrRef>
              <c:f>Sheet1!$A$2:$A$7</c:f>
              <c:multiLvlStrCache>
                <c:ptCount val="6"/>
                <c:lvl>
                  <c:pt idx="0">
                    <c:v>2016</c:v>
                  </c:pt>
                  <c:pt idx="1">
                    <c:v>2017</c:v>
                  </c:pt>
                  <c:pt idx="2">
                    <c:v>2018</c:v>
                  </c:pt>
                  <c:pt idx="3">
                    <c:v>2019</c:v>
                  </c:pt>
                  <c:pt idx="4">
                    <c:v>2020</c:v>
                  </c:pt>
                  <c:pt idx="5">
                    <c:v>2021</c:v>
                  </c:pt>
                </c:lvl>
              </c:multiLvlStrCache>
            </c:multiLvlStrRef>
          </c:cat>
          <c:val>
            <c:numRef>
              <c:f>Sheet1!$B$2:$B$7</c:f>
              <c:numCache>
                <c:formatCode>General</c:formatCode>
                <c:ptCount val="6"/>
                <c:pt idx="0">
                  <c:v>7.29</c:v>
                </c:pt>
                <c:pt idx="1">
                  <c:v>5.19</c:v>
                </c:pt>
                <c:pt idx="2">
                  <c:v>4.31</c:v>
                </c:pt>
                <c:pt idx="3">
                  <c:v>4.08</c:v>
                </c:pt>
                <c:pt idx="4">
                  <c:v>4.03</c:v>
                </c:pt>
                <c:pt idx="5">
                  <c:v>3.85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12700" cap="flat">
              <a:solidFill>
                <a:srgbClr val="D8E0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A"/>
        </a:solidFill>
      </p:bgPr>
    </p:bg>
    <p:spTree>
      <p:nvGrpSpPr>
        <p:cNvPr id="1" name=""/>
        <p:cNvGrpSpPr/>
        <p:nvPr/>
      </p:nvGrpSpPr>
      <p:grpSpPr>
        <a:xfrm>
          <a:off x="0" y="0"/>
          <a:ext cx="0" cy="0"/>
          <a:chOff x="0" y="0"/>
          <a:chExt cx="0" cy="0"/>
        </a:xfrm>
      </p:grpSpPr>
      <p:sp>
        <p:nvSpPr>
          <p:cNvPr id="2" name="Shape 0"/>
          <p:cNvSpPr/>
          <p:nvPr/>
        </p:nvSpPr>
        <p:spPr>
          <a:xfrm>
            <a:off x="411480" y="6528816"/>
            <a:ext cx="11384280" cy="0"/>
          </a:xfrm>
          <a:prstGeom prst="line">
            <a:avLst/>
          </a:prstGeom>
          <a:noFill/>
          <a:ln w="12700">
            <a:solidFill>
              <a:srgbClr val="D7E0E4"/>
            </a:solidFill>
            <a:prstDash val="solid"/>
          </a:ln>
        </p:spPr>
      </p:sp>
      <p:sp>
        <p:nvSpPr>
          <p:cNvPr id="3" name="Text 1"/>
          <p:cNvSpPr/>
          <p:nvPr/>
        </p:nvSpPr>
        <p:spPr>
          <a:xfrm>
            <a:off x="502920" y="6592824"/>
            <a:ext cx="3657600" cy="128016"/>
          </a:xfrm>
          <a:prstGeom prst="rect">
            <a:avLst/>
          </a:prstGeom>
          <a:noFill/>
          <a:ln/>
        </p:spPr>
        <p:txBody>
          <a:bodyPr wrap="square" rtlCol="0" anchor="ctr"/>
          <a:lstStyle/>
          <a:p>
            <a:pPr indent="0" marL="0">
              <a:buNone/>
            </a:pPr>
            <a:r>
              <a:rPr lang="en-US" sz="650" dirty="0">
                <a:solidFill>
                  <a:srgbClr val="658087"/>
                </a:solidFill>
              </a:rPr>
              <a:t>Global Electronics Retail Analytics</a:t>
            </a:r>
            <a:endParaRPr lang="en-US" sz="6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C44"/>
        </a:solidFill>
      </p:bgPr>
    </p:bg>
    <p:spTree>
      <p:nvGrpSpPr>
        <p:cNvPr id="1" name=""/>
        <p:cNvGrpSpPr/>
        <p:nvPr/>
      </p:nvGrpSpPr>
      <p:grpSpPr>
        <a:xfrm>
          <a:off x="0" y="0"/>
          <a:ext cx="0" cy="0"/>
          <a:chOff x="0" y="0"/>
          <a:chExt cx="0" cy="0"/>
        </a:xfrm>
      </p:grpSpPr>
      <p:pic>
        <p:nvPicPr>
          <p:cNvPr id="2" name="Image 0" descr="/mnt/data/a_wide_polished_cinematic_interior_scene_of_a_mo.pn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594360" y="1124712"/>
            <a:ext cx="4663440" cy="1078992"/>
          </a:xfrm>
          <a:prstGeom prst="rect">
            <a:avLst/>
          </a:prstGeom>
          <a:noFill/>
          <a:ln/>
        </p:spPr>
        <p:txBody>
          <a:bodyPr wrap="square" lIns="0" tIns="0" rIns="0" bIns="0" rtlCol="0" anchor="ctr">
            <a:normAutofit/>
          </a:bodyPr>
          <a:lstStyle/>
          <a:p>
            <a:pPr indent="0" marL="0">
              <a:buNone/>
            </a:pPr>
            <a:r>
              <a:rPr lang="en-US" sz="3300" b="1" dirty="0">
                <a:solidFill>
                  <a:srgbClr val="FFFFFF"/>
                </a:solidFill>
                <a:latin typeface="Aptos Display" pitchFamily="34" charset="0"/>
                <a:ea typeface="Aptos Display" pitchFamily="34" charset="-122"/>
                <a:cs typeface="Aptos Display" pitchFamily="34" charset="-120"/>
              </a:rPr>
              <a:t>Global Electronics</a:t>
            </a:r>
            <a:endParaRPr lang="en-US" sz="3300" dirty="0"/>
          </a:p>
          <a:p>
            <a:pPr indent="0" marL="0">
              <a:buNone/>
            </a:pPr>
            <a:r>
              <a:rPr lang="en-US" sz="3300" b="1" dirty="0">
                <a:solidFill>
                  <a:srgbClr val="FFFFFF"/>
                </a:solidFill>
                <a:latin typeface="Aptos Display" pitchFamily="34" charset="0"/>
                <a:ea typeface="Aptos Display" pitchFamily="34" charset="-122"/>
                <a:cs typeface="Aptos Display" pitchFamily="34" charset="-120"/>
              </a:rPr>
              <a:t>Retail Performance</a:t>
            </a:r>
            <a:endParaRPr lang="en-US" sz="3300" dirty="0"/>
          </a:p>
        </p:txBody>
      </p:sp>
      <p:sp>
        <p:nvSpPr>
          <p:cNvPr id="4" name="Text 1"/>
          <p:cNvSpPr/>
          <p:nvPr/>
        </p:nvSpPr>
        <p:spPr>
          <a:xfrm>
            <a:off x="621792" y="2514600"/>
            <a:ext cx="4023360" cy="256032"/>
          </a:xfrm>
          <a:prstGeom prst="rect">
            <a:avLst/>
          </a:prstGeom>
          <a:noFill/>
          <a:ln/>
        </p:spPr>
        <p:txBody>
          <a:bodyPr wrap="square" lIns="0" tIns="0" rIns="0" bIns="0" rtlCol="0" anchor="ctr"/>
          <a:lstStyle/>
          <a:p>
            <a:pPr indent="0" marL="0">
              <a:buNone/>
            </a:pPr>
            <a:r>
              <a:rPr lang="en-US" sz="1500" b="1" dirty="0">
                <a:solidFill>
                  <a:srgbClr val="D7EDF0"/>
                </a:solidFill>
              </a:rPr>
              <a:t>Customer &amp; Store Analytics | 2016–2021</a:t>
            </a:r>
            <a:endParaRPr lang="en-US" sz="1500" dirty="0"/>
          </a:p>
        </p:txBody>
      </p:sp>
      <p:sp>
        <p:nvSpPr>
          <p:cNvPr id="5" name="Text 2"/>
          <p:cNvSpPr/>
          <p:nvPr/>
        </p:nvSpPr>
        <p:spPr>
          <a:xfrm>
            <a:off x="621792" y="3063240"/>
            <a:ext cx="4315968" cy="566928"/>
          </a:xfrm>
          <a:prstGeom prst="rect">
            <a:avLst/>
          </a:prstGeom>
          <a:noFill/>
          <a:ln/>
        </p:spPr>
        <p:txBody>
          <a:bodyPr wrap="square" lIns="254" tIns="254" rIns="254" bIns="254" rtlCol="0" anchor="ctr">
            <a:normAutofit/>
          </a:bodyPr>
          <a:lstStyle/>
          <a:p>
            <a:pPr indent="0" marL="0">
              <a:buNone/>
            </a:pPr>
            <a:r>
              <a:rPr lang="en-US" sz="1350" dirty="0">
                <a:solidFill>
                  <a:srgbClr val="EAF5F7"/>
                </a:solidFill>
              </a:rPr>
              <a:t>End-to-end Google Sheets analytics project with cleaned data, model table, pivot analysis, executive dashboard and recommendations.</a:t>
            </a:r>
            <a:endParaRPr lang="en-US" sz="1350" dirty="0"/>
          </a:p>
        </p:txBody>
      </p:sp>
      <p:sp>
        <p:nvSpPr>
          <p:cNvPr id="6" name="Shape 3"/>
          <p:cNvSpPr/>
          <p:nvPr/>
        </p:nvSpPr>
        <p:spPr>
          <a:xfrm>
            <a:off x="621792" y="3977640"/>
            <a:ext cx="1600200" cy="292608"/>
          </a:xfrm>
          <a:prstGeom prst="roundRect">
            <a:avLst>
              <a:gd name="adj" fmla="val 18750"/>
            </a:avLst>
          </a:prstGeom>
          <a:solidFill>
            <a:srgbClr val="EAF2F4"/>
          </a:solidFill>
          <a:ln w="12700">
            <a:solidFill>
              <a:srgbClr val="EAF2F4"/>
            </a:solidFill>
            <a:prstDash val="solid"/>
          </a:ln>
        </p:spPr>
      </p:sp>
      <p:sp>
        <p:nvSpPr>
          <p:cNvPr id="7" name="Text 4"/>
          <p:cNvSpPr/>
          <p:nvPr/>
        </p:nvSpPr>
        <p:spPr>
          <a:xfrm>
            <a:off x="731520" y="4050792"/>
            <a:ext cx="1380744" cy="137160"/>
          </a:xfrm>
          <a:prstGeom prst="rect">
            <a:avLst/>
          </a:prstGeom>
          <a:noFill/>
          <a:ln/>
        </p:spPr>
        <p:txBody>
          <a:bodyPr wrap="square" lIns="0" tIns="0" rIns="0" bIns="0" rtlCol="0" anchor="ctr"/>
          <a:lstStyle/>
          <a:p>
            <a:pPr algn="ctr" indent="0" marL="0">
              <a:buNone/>
            </a:pPr>
            <a:r>
              <a:rPr lang="en-US" sz="800" b="1" dirty="0">
                <a:solidFill>
                  <a:srgbClr val="0C3C44"/>
                </a:solidFill>
              </a:rPr>
              <a:t>62,884 sales lines</a:t>
            </a:r>
            <a:endParaRPr lang="en-US" sz="800" dirty="0"/>
          </a:p>
        </p:txBody>
      </p:sp>
      <p:sp>
        <p:nvSpPr>
          <p:cNvPr id="8" name="Shape 5"/>
          <p:cNvSpPr/>
          <p:nvPr/>
        </p:nvSpPr>
        <p:spPr>
          <a:xfrm>
            <a:off x="2404872" y="3977640"/>
            <a:ext cx="1417320" cy="292608"/>
          </a:xfrm>
          <a:prstGeom prst="roundRect">
            <a:avLst>
              <a:gd name="adj" fmla="val 18750"/>
            </a:avLst>
          </a:prstGeom>
          <a:solidFill>
            <a:srgbClr val="EAF2F4"/>
          </a:solidFill>
          <a:ln w="12700">
            <a:solidFill>
              <a:srgbClr val="EAF2F4"/>
            </a:solidFill>
            <a:prstDash val="solid"/>
          </a:ln>
        </p:spPr>
      </p:sp>
      <p:sp>
        <p:nvSpPr>
          <p:cNvPr id="9" name="Text 6"/>
          <p:cNvSpPr/>
          <p:nvPr/>
        </p:nvSpPr>
        <p:spPr>
          <a:xfrm>
            <a:off x="2514600" y="4050792"/>
            <a:ext cx="1197864" cy="137160"/>
          </a:xfrm>
          <a:prstGeom prst="rect">
            <a:avLst/>
          </a:prstGeom>
          <a:noFill/>
          <a:ln/>
        </p:spPr>
        <p:txBody>
          <a:bodyPr wrap="square" lIns="0" tIns="0" rIns="0" bIns="0" rtlCol="0" anchor="ctr"/>
          <a:lstStyle/>
          <a:p>
            <a:pPr algn="ctr" indent="0" marL="0">
              <a:buNone/>
            </a:pPr>
            <a:r>
              <a:rPr lang="en-US" sz="800" b="1" dirty="0">
                <a:solidFill>
                  <a:srgbClr val="0C3C44"/>
                </a:solidFill>
              </a:rPr>
              <a:t>26,326 orders</a:t>
            </a:r>
            <a:endParaRPr lang="en-US" sz="800" dirty="0"/>
          </a:p>
        </p:txBody>
      </p:sp>
      <p:sp>
        <p:nvSpPr>
          <p:cNvPr id="10" name="Shape 7"/>
          <p:cNvSpPr/>
          <p:nvPr/>
        </p:nvSpPr>
        <p:spPr>
          <a:xfrm>
            <a:off x="3986784" y="3977640"/>
            <a:ext cx="1078992" cy="292608"/>
          </a:xfrm>
          <a:prstGeom prst="roundRect">
            <a:avLst>
              <a:gd name="adj" fmla="val 18750"/>
            </a:avLst>
          </a:prstGeom>
          <a:solidFill>
            <a:srgbClr val="EAF2F4"/>
          </a:solidFill>
          <a:ln w="12700">
            <a:solidFill>
              <a:srgbClr val="EAF2F4"/>
            </a:solidFill>
            <a:prstDash val="solid"/>
          </a:ln>
        </p:spPr>
      </p:sp>
      <p:sp>
        <p:nvSpPr>
          <p:cNvPr id="11" name="Text 8"/>
          <p:cNvSpPr/>
          <p:nvPr/>
        </p:nvSpPr>
        <p:spPr>
          <a:xfrm>
            <a:off x="4096512" y="4050792"/>
            <a:ext cx="859536" cy="137160"/>
          </a:xfrm>
          <a:prstGeom prst="rect">
            <a:avLst/>
          </a:prstGeom>
          <a:noFill/>
          <a:ln/>
        </p:spPr>
        <p:txBody>
          <a:bodyPr wrap="square" lIns="0" tIns="0" rIns="0" bIns="0" rtlCol="0" anchor="ctr"/>
          <a:lstStyle/>
          <a:p>
            <a:pPr algn="ctr" indent="0" marL="0">
              <a:buNone/>
            </a:pPr>
            <a:r>
              <a:rPr lang="en-US" sz="800" b="1" dirty="0">
                <a:solidFill>
                  <a:srgbClr val="0C3C44"/>
                </a:solidFill>
              </a:rPr>
              <a:t>Google Sheets</a:t>
            </a:r>
            <a:endParaRPr lang="en-US" sz="800" dirty="0"/>
          </a:p>
        </p:txBody>
      </p:sp>
      <p:sp>
        <p:nvSpPr>
          <p:cNvPr id="12" name="Text 9"/>
          <p:cNvSpPr/>
          <p:nvPr/>
        </p:nvSpPr>
        <p:spPr>
          <a:xfrm>
            <a:off x="621792" y="5989320"/>
            <a:ext cx="2560320" cy="219456"/>
          </a:xfrm>
          <a:prstGeom prst="rect">
            <a:avLst/>
          </a:prstGeom>
          <a:noFill/>
          <a:ln/>
        </p:spPr>
        <p:txBody>
          <a:bodyPr wrap="square" lIns="0" tIns="0" rIns="0" bIns="0" rtlCol="0" anchor="ctr"/>
          <a:lstStyle/>
          <a:p>
            <a:pPr indent="0" marL="0">
              <a:buNone/>
            </a:pPr>
            <a:r>
              <a:rPr lang="en-US" sz="1100" dirty="0">
                <a:solidFill>
                  <a:srgbClr val="CBE1E5"/>
                </a:solidFill>
              </a:rPr>
              <a:t>Portfolio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C3C44"/>
          </a:solidFill>
          <a:ln w="12700">
            <a:solidFill>
              <a:srgbClr val="0C3C44"/>
            </a:solidFill>
            <a:prstDash val="solid"/>
          </a:ln>
        </p:spPr>
      </p:sp>
      <p:sp>
        <p:nvSpPr>
          <p:cNvPr id="3" name="Text 1"/>
          <p:cNvSpPr/>
          <p:nvPr/>
        </p:nvSpPr>
        <p:spPr>
          <a:xfrm>
            <a:off x="502920" y="155448"/>
            <a:ext cx="8961120" cy="292608"/>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Executive snapshot</a:t>
            </a:r>
            <a:endParaRPr lang="en-US" sz="2200" dirty="0"/>
          </a:p>
        </p:txBody>
      </p:sp>
      <p:sp>
        <p:nvSpPr>
          <p:cNvPr id="4" name="Text 2"/>
          <p:cNvSpPr/>
          <p:nvPr/>
        </p:nvSpPr>
        <p:spPr>
          <a:xfrm>
            <a:off x="530352" y="466344"/>
            <a:ext cx="8778240" cy="164592"/>
          </a:xfrm>
          <a:prstGeom prst="rect">
            <a:avLst/>
          </a:prstGeom>
          <a:noFill/>
          <a:ln/>
        </p:spPr>
        <p:txBody>
          <a:bodyPr wrap="square" lIns="0" tIns="0" rIns="0" bIns="0" rtlCol="0" anchor="ctr"/>
          <a:lstStyle/>
          <a:p>
            <a:pPr indent="0" marL="0">
              <a:buNone/>
            </a:pPr>
            <a:r>
              <a:rPr lang="en-US" sz="950" dirty="0">
                <a:solidFill>
                  <a:srgbClr val="D8ECEF"/>
                </a:solidFill>
              </a:rPr>
              <a:t>The business is profitable, but performance is concentrated by product, geography and channel.</a:t>
            </a:r>
            <a:endParaRPr lang="en-US" sz="950" dirty="0"/>
          </a:p>
        </p:txBody>
      </p:sp>
      <p:sp>
        <p:nvSpPr>
          <p:cNvPr id="5" name="Shape 3"/>
          <p:cNvSpPr/>
          <p:nvPr/>
        </p:nvSpPr>
        <p:spPr>
          <a:xfrm>
            <a:off x="502920" y="960120"/>
            <a:ext cx="2011680" cy="685800"/>
          </a:xfrm>
          <a:prstGeom prst="rect">
            <a:avLst/>
          </a:prstGeom>
          <a:solidFill>
            <a:srgbClr val="FFFFFF"/>
          </a:solidFill>
          <a:ln w="10160">
            <a:solidFill>
              <a:srgbClr val="DCE5E8"/>
            </a:solidFill>
            <a:prstDash val="solid"/>
          </a:ln>
        </p:spPr>
      </p:sp>
      <p:sp>
        <p:nvSpPr>
          <p:cNvPr id="6" name="Shape 4"/>
          <p:cNvSpPr/>
          <p:nvPr/>
        </p:nvSpPr>
        <p:spPr>
          <a:xfrm>
            <a:off x="502920" y="978408"/>
            <a:ext cx="64008" cy="649224"/>
          </a:xfrm>
          <a:prstGeom prst="rect">
            <a:avLst/>
          </a:prstGeom>
          <a:solidFill>
            <a:srgbClr val="397BDB"/>
          </a:solidFill>
          <a:ln w="12700">
            <a:solidFill>
              <a:srgbClr val="397BDB"/>
            </a:solidFill>
            <a:prstDash val="solid"/>
          </a:ln>
        </p:spPr>
      </p:sp>
      <p:sp>
        <p:nvSpPr>
          <p:cNvPr id="7" name="Text 5"/>
          <p:cNvSpPr/>
          <p:nvPr/>
        </p:nvSpPr>
        <p:spPr>
          <a:xfrm>
            <a:off x="667512" y="1069848"/>
            <a:ext cx="1737360" cy="164592"/>
          </a:xfrm>
          <a:prstGeom prst="rect">
            <a:avLst/>
          </a:prstGeom>
          <a:noFill/>
          <a:ln/>
        </p:spPr>
        <p:txBody>
          <a:bodyPr wrap="square" lIns="0" tIns="0" rIns="0" bIns="0" rtlCol="0" anchor="ctr"/>
          <a:lstStyle/>
          <a:p>
            <a:pPr indent="0" marL="0">
              <a:buNone/>
            </a:pPr>
            <a:r>
              <a:rPr lang="en-US" sz="850" dirty="0">
                <a:solidFill>
                  <a:srgbClr val="5A6A70"/>
                </a:solidFill>
              </a:rPr>
              <a:t>Total Revenue</a:t>
            </a:r>
            <a:endParaRPr lang="en-US" sz="850" dirty="0"/>
          </a:p>
        </p:txBody>
      </p:sp>
      <p:sp>
        <p:nvSpPr>
          <p:cNvPr id="8" name="Text 6"/>
          <p:cNvSpPr/>
          <p:nvPr/>
        </p:nvSpPr>
        <p:spPr>
          <a:xfrm>
            <a:off x="667512" y="1271016"/>
            <a:ext cx="1737360" cy="237744"/>
          </a:xfrm>
          <a:prstGeom prst="rect">
            <a:avLst/>
          </a:prstGeom>
          <a:noFill/>
          <a:ln/>
        </p:spPr>
        <p:txBody>
          <a:bodyPr wrap="square" lIns="0" tIns="0" rIns="0" bIns="0" rtlCol="0" anchor="ctr"/>
          <a:lstStyle/>
          <a:p>
            <a:pPr indent="0" marL="0">
              <a:buNone/>
            </a:pPr>
            <a:r>
              <a:rPr lang="en-US" sz="1600" b="1" dirty="0">
                <a:solidFill>
                  <a:srgbClr val="182A2F"/>
                </a:solidFill>
              </a:rPr>
              <a:t>$55.76M</a:t>
            </a:r>
            <a:endParaRPr lang="en-US" sz="1600" dirty="0"/>
          </a:p>
        </p:txBody>
      </p:sp>
      <p:sp>
        <p:nvSpPr>
          <p:cNvPr id="9" name="Shape 7"/>
          <p:cNvSpPr/>
          <p:nvPr/>
        </p:nvSpPr>
        <p:spPr>
          <a:xfrm>
            <a:off x="2788920" y="960120"/>
            <a:ext cx="2011680" cy="685800"/>
          </a:xfrm>
          <a:prstGeom prst="rect">
            <a:avLst/>
          </a:prstGeom>
          <a:solidFill>
            <a:srgbClr val="FFFFFF"/>
          </a:solidFill>
          <a:ln w="10160">
            <a:solidFill>
              <a:srgbClr val="DCE5E8"/>
            </a:solidFill>
            <a:prstDash val="solid"/>
          </a:ln>
        </p:spPr>
      </p:sp>
      <p:sp>
        <p:nvSpPr>
          <p:cNvPr id="10" name="Shape 8"/>
          <p:cNvSpPr/>
          <p:nvPr/>
        </p:nvSpPr>
        <p:spPr>
          <a:xfrm>
            <a:off x="2788920" y="978408"/>
            <a:ext cx="64008" cy="649224"/>
          </a:xfrm>
          <a:prstGeom prst="rect">
            <a:avLst/>
          </a:prstGeom>
          <a:solidFill>
            <a:srgbClr val="E8473F"/>
          </a:solidFill>
          <a:ln w="12700">
            <a:solidFill>
              <a:srgbClr val="E8473F"/>
            </a:solidFill>
            <a:prstDash val="solid"/>
          </a:ln>
        </p:spPr>
      </p:sp>
      <p:sp>
        <p:nvSpPr>
          <p:cNvPr id="11" name="Text 9"/>
          <p:cNvSpPr/>
          <p:nvPr/>
        </p:nvSpPr>
        <p:spPr>
          <a:xfrm>
            <a:off x="2953512" y="1069848"/>
            <a:ext cx="1737360" cy="164592"/>
          </a:xfrm>
          <a:prstGeom prst="rect">
            <a:avLst/>
          </a:prstGeom>
          <a:noFill/>
          <a:ln/>
        </p:spPr>
        <p:txBody>
          <a:bodyPr wrap="square" lIns="0" tIns="0" rIns="0" bIns="0" rtlCol="0" anchor="ctr"/>
          <a:lstStyle/>
          <a:p>
            <a:pPr indent="0" marL="0">
              <a:buNone/>
            </a:pPr>
            <a:r>
              <a:rPr lang="en-US" sz="850" dirty="0">
                <a:solidFill>
                  <a:srgbClr val="5A6A70"/>
                </a:solidFill>
              </a:rPr>
              <a:t>Total Profit</a:t>
            </a:r>
            <a:endParaRPr lang="en-US" sz="850" dirty="0"/>
          </a:p>
        </p:txBody>
      </p:sp>
      <p:sp>
        <p:nvSpPr>
          <p:cNvPr id="12" name="Text 10"/>
          <p:cNvSpPr/>
          <p:nvPr/>
        </p:nvSpPr>
        <p:spPr>
          <a:xfrm>
            <a:off x="2953512" y="1271016"/>
            <a:ext cx="1737360" cy="237744"/>
          </a:xfrm>
          <a:prstGeom prst="rect">
            <a:avLst/>
          </a:prstGeom>
          <a:noFill/>
          <a:ln/>
        </p:spPr>
        <p:txBody>
          <a:bodyPr wrap="square" lIns="0" tIns="0" rIns="0" bIns="0" rtlCol="0" anchor="ctr"/>
          <a:lstStyle/>
          <a:p>
            <a:pPr indent="0" marL="0">
              <a:buNone/>
            </a:pPr>
            <a:r>
              <a:rPr lang="en-US" sz="1600" b="1" dirty="0">
                <a:solidFill>
                  <a:srgbClr val="182A2F"/>
                </a:solidFill>
              </a:rPr>
              <a:t>$32.66M</a:t>
            </a:r>
            <a:endParaRPr lang="en-US" sz="1600" dirty="0"/>
          </a:p>
        </p:txBody>
      </p:sp>
      <p:sp>
        <p:nvSpPr>
          <p:cNvPr id="13" name="Shape 11"/>
          <p:cNvSpPr/>
          <p:nvPr/>
        </p:nvSpPr>
        <p:spPr>
          <a:xfrm>
            <a:off x="5074920" y="960120"/>
            <a:ext cx="1920240" cy="685800"/>
          </a:xfrm>
          <a:prstGeom prst="rect">
            <a:avLst/>
          </a:prstGeom>
          <a:solidFill>
            <a:srgbClr val="FFFFFF"/>
          </a:solidFill>
          <a:ln w="10160">
            <a:solidFill>
              <a:srgbClr val="DCE5E8"/>
            </a:solidFill>
            <a:prstDash val="solid"/>
          </a:ln>
        </p:spPr>
      </p:sp>
      <p:sp>
        <p:nvSpPr>
          <p:cNvPr id="14" name="Shape 12"/>
          <p:cNvSpPr/>
          <p:nvPr/>
        </p:nvSpPr>
        <p:spPr>
          <a:xfrm>
            <a:off x="5074920" y="978408"/>
            <a:ext cx="64008" cy="649224"/>
          </a:xfrm>
          <a:prstGeom prst="rect">
            <a:avLst/>
          </a:prstGeom>
          <a:solidFill>
            <a:srgbClr val="F5C452"/>
          </a:solidFill>
          <a:ln w="12700">
            <a:solidFill>
              <a:srgbClr val="F5C452"/>
            </a:solidFill>
            <a:prstDash val="solid"/>
          </a:ln>
        </p:spPr>
      </p:sp>
      <p:sp>
        <p:nvSpPr>
          <p:cNvPr id="15" name="Text 13"/>
          <p:cNvSpPr/>
          <p:nvPr/>
        </p:nvSpPr>
        <p:spPr>
          <a:xfrm>
            <a:off x="5239512" y="1069848"/>
            <a:ext cx="1645920" cy="164592"/>
          </a:xfrm>
          <a:prstGeom prst="rect">
            <a:avLst/>
          </a:prstGeom>
          <a:noFill/>
          <a:ln/>
        </p:spPr>
        <p:txBody>
          <a:bodyPr wrap="square" lIns="0" tIns="0" rIns="0" bIns="0" rtlCol="0" anchor="ctr"/>
          <a:lstStyle/>
          <a:p>
            <a:pPr indent="0" marL="0">
              <a:buNone/>
            </a:pPr>
            <a:r>
              <a:rPr lang="en-US" sz="850" dirty="0">
                <a:solidFill>
                  <a:srgbClr val="5A6A70"/>
                </a:solidFill>
              </a:rPr>
              <a:t>Profit Margin</a:t>
            </a:r>
            <a:endParaRPr lang="en-US" sz="850" dirty="0"/>
          </a:p>
        </p:txBody>
      </p:sp>
      <p:sp>
        <p:nvSpPr>
          <p:cNvPr id="16" name="Text 14"/>
          <p:cNvSpPr/>
          <p:nvPr/>
        </p:nvSpPr>
        <p:spPr>
          <a:xfrm>
            <a:off x="5239512" y="1271016"/>
            <a:ext cx="1645920" cy="237744"/>
          </a:xfrm>
          <a:prstGeom prst="rect">
            <a:avLst/>
          </a:prstGeom>
          <a:noFill/>
          <a:ln/>
        </p:spPr>
        <p:txBody>
          <a:bodyPr wrap="square" lIns="0" tIns="0" rIns="0" bIns="0" rtlCol="0" anchor="ctr"/>
          <a:lstStyle/>
          <a:p>
            <a:pPr indent="0" marL="0">
              <a:buNone/>
            </a:pPr>
            <a:r>
              <a:rPr lang="en-US" sz="1600" b="1" dirty="0">
                <a:solidFill>
                  <a:srgbClr val="182A2F"/>
                </a:solidFill>
              </a:rPr>
              <a:t>58.58%</a:t>
            </a:r>
            <a:endParaRPr lang="en-US" sz="1600" dirty="0"/>
          </a:p>
        </p:txBody>
      </p:sp>
      <p:sp>
        <p:nvSpPr>
          <p:cNvPr id="17" name="Shape 15"/>
          <p:cNvSpPr/>
          <p:nvPr/>
        </p:nvSpPr>
        <p:spPr>
          <a:xfrm>
            <a:off x="7269480" y="960120"/>
            <a:ext cx="1828800" cy="685800"/>
          </a:xfrm>
          <a:prstGeom prst="rect">
            <a:avLst/>
          </a:prstGeom>
          <a:solidFill>
            <a:srgbClr val="FFFFFF"/>
          </a:solidFill>
          <a:ln w="10160">
            <a:solidFill>
              <a:srgbClr val="DCE5E8"/>
            </a:solidFill>
            <a:prstDash val="solid"/>
          </a:ln>
        </p:spPr>
      </p:sp>
      <p:sp>
        <p:nvSpPr>
          <p:cNvPr id="18" name="Shape 16"/>
          <p:cNvSpPr/>
          <p:nvPr/>
        </p:nvSpPr>
        <p:spPr>
          <a:xfrm>
            <a:off x="7269480" y="978408"/>
            <a:ext cx="64008" cy="649224"/>
          </a:xfrm>
          <a:prstGeom prst="rect">
            <a:avLst/>
          </a:prstGeom>
          <a:solidFill>
            <a:srgbClr val="155A63"/>
          </a:solidFill>
          <a:ln w="12700">
            <a:solidFill>
              <a:srgbClr val="155A63"/>
            </a:solidFill>
            <a:prstDash val="solid"/>
          </a:ln>
        </p:spPr>
      </p:sp>
      <p:sp>
        <p:nvSpPr>
          <p:cNvPr id="19" name="Text 17"/>
          <p:cNvSpPr/>
          <p:nvPr/>
        </p:nvSpPr>
        <p:spPr>
          <a:xfrm>
            <a:off x="7434072" y="1069848"/>
            <a:ext cx="1554480" cy="164592"/>
          </a:xfrm>
          <a:prstGeom prst="rect">
            <a:avLst/>
          </a:prstGeom>
          <a:noFill/>
          <a:ln/>
        </p:spPr>
        <p:txBody>
          <a:bodyPr wrap="square" lIns="0" tIns="0" rIns="0" bIns="0" rtlCol="0" anchor="ctr"/>
          <a:lstStyle/>
          <a:p>
            <a:pPr indent="0" marL="0">
              <a:buNone/>
            </a:pPr>
            <a:r>
              <a:rPr lang="en-US" sz="850" dirty="0">
                <a:solidFill>
                  <a:srgbClr val="5A6A70"/>
                </a:solidFill>
              </a:rPr>
              <a:t>Total Orders</a:t>
            </a:r>
            <a:endParaRPr lang="en-US" sz="850" dirty="0"/>
          </a:p>
        </p:txBody>
      </p:sp>
      <p:sp>
        <p:nvSpPr>
          <p:cNvPr id="20" name="Text 18"/>
          <p:cNvSpPr/>
          <p:nvPr/>
        </p:nvSpPr>
        <p:spPr>
          <a:xfrm>
            <a:off x="7434072" y="1271016"/>
            <a:ext cx="1554480" cy="237744"/>
          </a:xfrm>
          <a:prstGeom prst="rect">
            <a:avLst/>
          </a:prstGeom>
          <a:noFill/>
          <a:ln/>
        </p:spPr>
        <p:txBody>
          <a:bodyPr wrap="square" lIns="0" tIns="0" rIns="0" bIns="0" rtlCol="0" anchor="ctr"/>
          <a:lstStyle/>
          <a:p>
            <a:pPr indent="0" marL="0">
              <a:buNone/>
            </a:pPr>
            <a:r>
              <a:rPr lang="en-US" sz="1600" b="1" dirty="0">
                <a:solidFill>
                  <a:srgbClr val="182A2F"/>
                </a:solidFill>
              </a:rPr>
              <a:t>26,326</a:t>
            </a:r>
            <a:endParaRPr lang="en-US" sz="1600" dirty="0"/>
          </a:p>
        </p:txBody>
      </p:sp>
      <p:sp>
        <p:nvSpPr>
          <p:cNvPr id="21" name="Shape 19"/>
          <p:cNvSpPr/>
          <p:nvPr/>
        </p:nvSpPr>
        <p:spPr>
          <a:xfrm>
            <a:off x="9372600" y="960120"/>
            <a:ext cx="2286000" cy="685800"/>
          </a:xfrm>
          <a:prstGeom prst="rect">
            <a:avLst/>
          </a:prstGeom>
          <a:solidFill>
            <a:srgbClr val="FFFFFF"/>
          </a:solidFill>
          <a:ln w="10160">
            <a:solidFill>
              <a:srgbClr val="DCE5E8"/>
            </a:solidFill>
            <a:prstDash val="solid"/>
          </a:ln>
        </p:spPr>
      </p:sp>
      <p:sp>
        <p:nvSpPr>
          <p:cNvPr id="22" name="Shape 20"/>
          <p:cNvSpPr/>
          <p:nvPr/>
        </p:nvSpPr>
        <p:spPr>
          <a:xfrm>
            <a:off x="9372600" y="978408"/>
            <a:ext cx="64008" cy="649224"/>
          </a:xfrm>
          <a:prstGeom prst="rect">
            <a:avLst/>
          </a:prstGeom>
          <a:solidFill>
            <a:srgbClr val="27561B"/>
          </a:solidFill>
          <a:ln w="12700">
            <a:solidFill>
              <a:srgbClr val="27561B"/>
            </a:solidFill>
            <a:prstDash val="solid"/>
          </a:ln>
        </p:spPr>
      </p:sp>
      <p:sp>
        <p:nvSpPr>
          <p:cNvPr id="23" name="Text 21"/>
          <p:cNvSpPr/>
          <p:nvPr/>
        </p:nvSpPr>
        <p:spPr>
          <a:xfrm>
            <a:off x="9537192" y="1069848"/>
            <a:ext cx="2011680" cy="164592"/>
          </a:xfrm>
          <a:prstGeom prst="rect">
            <a:avLst/>
          </a:prstGeom>
          <a:noFill/>
          <a:ln/>
        </p:spPr>
        <p:txBody>
          <a:bodyPr wrap="square" lIns="0" tIns="0" rIns="0" bIns="0" rtlCol="0" anchor="ctr"/>
          <a:lstStyle/>
          <a:p>
            <a:pPr indent="0" marL="0">
              <a:buNone/>
            </a:pPr>
            <a:r>
              <a:rPr lang="en-US" sz="850" dirty="0">
                <a:solidFill>
                  <a:srgbClr val="5A6A70"/>
                </a:solidFill>
              </a:rPr>
              <a:t>Avg. Order Value</a:t>
            </a:r>
            <a:endParaRPr lang="en-US" sz="850" dirty="0"/>
          </a:p>
        </p:txBody>
      </p:sp>
      <p:sp>
        <p:nvSpPr>
          <p:cNvPr id="24" name="Text 22"/>
          <p:cNvSpPr/>
          <p:nvPr/>
        </p:nvSpPr>
        <p:spPr>
          <a:xfrm>
            <a:off x="9537192" y="1271016"/>
            <a:ext cx="2011680" cy="237744"/>
          </a:xfrm>
          <a:prstGeom prst="rect">
            <a:avLst/>
          </a:prstGeom>
          <a:noFill/>
          <a:ln/>
        </p:spPr>
        <p:txBody>
          <a:bodyPr wrap="square" lIns="0" tIns="0" rIns="0" bIns="0" rtlCol="0" anchor="ctr"/>
          <a:lstStyle/>
          <a:p>
            <a:pPr indent="0" marL="0">
              <a:buNone/>
            </a:pPr>
            <a:r>
              <a:rPr lang="en-US" sz="1600" b="1" dirty="0">
                <a:solidFill>
                  <a:srgbClr val="182A2F"/>
                </a:solidFill>
              </a:rPr>
              <a:t>$2,117.89</a:t>
            </a:r>
            <a:endParaRPr lang="en-US" sz="1600" dirty="0"/>
          </a:p>
        </p:txBody>
      </p:sp>
      <p:graphicFrame>
        <p:nvGraphicFramePr>
          <p:cNvPr id="25" name="Chart 0" descr=""/>
          <p:cNvGraphicFramePr/>
          <p:nvPr/>
        </p:nvGraphicFramePr>
        <p:xfrm>
          <a:off x="548640" y="2057400"/>
          <a:ext cx="6492240" cy="3246120"/>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p:nvPr/>
        </p:nvSpPr>
        <p:spPr>
          <a:xfrm>
            <a:off x="7498080" y="2121408"/>
            <a:ext cx="3200400" cy="228600"/>
          </a:xfrm>
          <a:prstGeom prst="rect">
            <a:avLst/>
          </a:prstGeom>
          <a:noFill/>
          <a:ln/>
        </p:spPr>
        <p:txBody>
          <a:bodyPr wrap="square" lIns="0" tIns="0" rIns="0" bIns="0" rtlCol="0" anchor="ctr"/>
          <a:lstStyle/>
          <a:p>
            <a:pPr indent="0" marL="0">
              <a:buNone/>
            </a:pPr>
            <a:r>
              <a:rPr lang="en-US" sz="1000" b="1" dirty="0">
                <a:solidFill>
                  <a:srgbClr val="0C3C44"/>
                </a:solidFill>
              </a:rPr>
              <a:t>Headline story</a:t>
            </a:r>
            <a:endParaRPr lang="en-US" sz="1000" dirty="0"/>
          </a:p>
        </p:txBody>
      </p:sp>
      <p:sp>
        <p:nvSpPr>
          <p:cNvPr id="27" name="Shape 24"/>
          <p:cNvSpPr/>
          <p:nvPr/>
        </p:nvSpPr>
        <p:spPr>
          <a:xfrm>
            <a:off x="7498080" y="2395728"/>
            <a:ext cx="3200400" cy="0"/>
          </a:xfrm>
          <a:prstGeom prst="line">
            <a:avLst/>
          </a:prstGeom>
          <a:noFill/>
          <a:ln w="15240">
            <a:solidFill>
              <a:srgbClr val="0C3C44"/>
            </a:solidFill>
            <a:prstDash val="solid"/>
          </a:ln>
        </p:spPr>
      </p:sp>
      <p:sp>
        <p:nvSpPr>
          <p:cNvPr id="28" name="Shape 25"/>
          <p:cNvSpPr/>
          <p:nvPr/>
        </p:nvSpPr>
        <p:spPr>
          <a:xfrm>
            <a:off x="7498080" y="2578608"/>
            <a:ext cx="3749040" cy="804672"/>
          </a:xfrm>
          <a:prstGeom prst="rect">
            <a:avLst/>
          </a:prstGeom>
          <a:solidFill>
            <a:srgbClr val="FFFFFF"/>
          </a:solidFill>
          <a:ln w="10160">
            <a:solidFill>
              <a:srgbClr val="DCE5E8"/>
            </a:solidFill>
            <a:prstDash val="solid"/>
          </a:ln>
        </p:spPr>
      </p:sp>
      <p:sp>
        <p:nvSpPr>
          <p:cNvPr id="29" name="Shape 26"/>
          <p:cNvSpPr/>
          <p:nvPr/>
        </p:nvSpPr>
        <p:spPr>
          <a:xfrm>
            <a:off x="7498080" y="2578608"/>
            <a:ext cx="73152" cy="804672"/>
          </a:xfrm>
          <a:prstGeom prst="rect">
            <a:avLst/>
          </a:prstGeom>
          <a:solidFill>
            <a:srgbClr val="E8473F"/>
          </a:solidFill>
          <a:ln w="12700">
            <a:solidFill>
              <a:srgbClr val="E8473F"/>
            </a:solidFill>
            <a:prstDash val="solid"/>
          </a:ln>
        </p:spPr>
      </p:sp>
      <p:sp>
        <p:nvSpPr>
          <p:cNvPr id="30" name="Text 27"/>
          <p:cNvSpPr/>
          <p:nvPr/>
        </p:nvSpPr>
        <p:spPr>
          <a:xfrm>
            <a:off x="7699248" y="2706624"/>
            <a:ext cx="3438144" cy="621792"/>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Revenue peaked in 2019 at $18.26M, then declined sharply in 2020.</a:t>
            </a:r>
            <a:endParaRPr lang="en-US" sz="1120" dirty="0"/>
          </a:p>
        </p:txBody>
      </p:sp>
      <p:sp>
        <p:nvSpPr>
          <p:cNvPr id="31" name="Shape 28"/>
          <p:cNvSpPr/>
          <p:nvPr/>
        </p:nvSpPr>
        <p:spPr>
          <a:xfrm>
            <a:off x="7498080" y="3566160"/>
            <a:ext cx="3749040" cy="804672"/>
          </a:xfrm>
          <a:prstGeom prst="rect">
            <a:avLst/>
          </a:prstGeom>
          <a:solidFill>
            <a:srgbClr val="FFFFFF"/>
          </a:solidFill>
          <a:ln w="10160">
            <a:solidFill>
              <a:srgbClr val="DCE5E8"/>
            </a:solidFill>
            <a:prstDash val="solid"/>
          </a:ln>
        </p:spPr>
      </p:sp>
      <p:sp>
        <p:nvSpPr>
          <p:cNvPr id="32" name="Shape 29"/>
          <p:cNvSpPr/>
          <p:nvPr/>
        </p:nvSpPr>
        <p:spPr>
          <a:xfrm>
            <a:off x="7498080" y="3566160"/>
            <a:ext cx="73152" cy="804672"/>
          </a:xfrm>
          <a:prstGeom prst="rect">
            <a:avLst/>
          </a:prstGeom>
          <a:solidFill>
            <a:srgbClr val="397BDB"/>
          </a:solidFill>
          <a:ln w="12700">
            <a:solidFill>
              <a:srgbClr val="397BDB"/>
            </a:solidFill>
            <a:prstDash val="solid"/>
          </a:ln>
        </p:spPr>
      </p:sp>
      <p:sp>
        <p:nvSpPr>
          <p:cNvPr id="33" name="Text 30"/>
          <p:cNvSpPr/>
          <p:nvPr/>
        </p:nvSpPr>
        <p:spPr>
          <a:xfrm>
            <a:off x="7699248" y="3694176"/>
            <a:ext cx="3438144" cy="621792"/>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Computers lead both revenue and profit, making them the core product engine.</a:t>
            </a:r>
            <a:endParaRPr lang="en-US" sz="1120" dirty="0"/>
          </a:p>
        </p:txBody>
      </p:sp>
      <p:sp>
        <p:nvSpPr>
          <p:cNvPr id="34" name="Shape 31"/>
          <p:cNvSpPr/>
          <p:nvPr/>
        </p:nvSpPr>
        <p:spPr>
          <a:xfrm>
            <a:off x="7498080" y="4553712"/>
            <a:ext cx="3749040" cy="685800"/>
          </a:xfrm>
          <a:prstGeom prst="rect">
            <a:avLst/>
          </a:prstGeom>
          <a:solidFill>
            <a:srgbClr val="FFFFFF"/>
          </a:solidFill>
          <a:ln w="10160">
            <a:solidFill>
              <a:srgbClr val="DCE5E8"/>
            </a:solidFill>
            <a:prstDash val="solid"/>
          </a:ln>
        </p:spPr>
      </p:sp>
      <p:sp>
        <p:nvSpPr>
          <p:cNvPr id="35" name="Shape 32"/>
          <p:cNvSpPr/>
          <p:nvPr/>
        </p:nvSpPr>
        <p:spPr>
          <a:xfrm>
            <a:off x="7498080" y="4553712"/>
            <a:ext cx="73152" cy="685800"/>
          </a:xfrm>
          <a:prstGeom prst="rect">
            <a:avLst/>
          </a:prstGeom>
          <a:solidFill>
            <a:srgbClr val="F5C452"/>
          </a:solidFill>
          <a:ln w="12700">
            <a:solidFill>
              <a:srgbClr val="F5C452"/>
            </a:solidFill>
            <a:prstDash val="solid"/>
          </a:ln>
        </p:spPr>
      </p:sp>
      <p:sp>
        <p:nvSpPr>
          <p:cNvPr id="36" name="Text 33"/>
          <p:cNvSpPr/>
          <p:nvPr/>
        </p:nvSpPr>
        <p:spPr>
          <a:xfrm>
            <a:off x="7699248" y="4681728"/>
            <a:ext cx="3438144" cy="502920"/>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2021 includes only January–February and should not be compared to full years.</a:t>
            </a:r>
            <a:endParaRPr lang="en-US" sz="1120" dirty="0"/>
          </a:p>
        </p:txBody>
      </p:sp>
      <p:sp>
        <p:nvSpPr>
          <p:cNvPr id="37" name="Text 34"/>
          <p:cNvSpPr/>
          <p:nvPr/>
        </p:nvSpPr>
        <p:spPr>
          <a:xfrm>
            <a:off x="502920" y="6291072"/>
            <a:ext cx="7772400" cy="164592"/>
          </a:xfrm>
          <a:prstGeom prst="rect">
            <a:avLst/>
          </a:prstGeom>
          <a:noFill/>
          <a:ln/>
        </p:spPr>
        <p:txBody>
          <a:bodyPr wrap="square" lIns="0" tIns="0" rIns="0" bIns="0" rtlCol="0" anchor="ctr"/>
          <a:lstStyle/>
          <a:p>
            <a:pPr indent="0" marL="0">
              <a:buNone/>
            </a:pPr>
            <a:r>
              <a:rPr lang="en-US" sz="650" dirty="0">
                <a:solidFill>
                  <a:srgbClr val="71898F"/>
                </a:solidFill>
              </a:rPr>
              <a:t>Source: Global Electronics Retail Performance, Customer &amp; Store Analytics workbook. 2021 includes Jan–Feb only.</a:t>
            </a:r>
            <a:endParaRPr lang="en-US" sz="650" dirty="0"/>
          </a:p>
        </p:txBody>
      </p:sp>
      <p:sp>
        <p:nvSpPr>
          <p:cNvPr id="38" name="Text 35"/>
          <p:cNvSpPr/>
          <p:nvPr/>
        </p:nvSpPr>
        <p:spPr>
          <a:xfrm>
            <a:off x="11576304" y="6565392"/>
            <a:ext cx="228600" cy="137160"/>
          </a:xfrm>
          <a:prstGeom prst="rect">
            <a:avLst/>
          </a:prstGeom>
          <a:noFill/>
          <a:ln/>
        </p:spPr>
        <p:txBody>
          <a:bodyPr wrap="square" lIns="0" tIns="0" rIns="0" bIns="0" rtlCol="0" anchor="ctr"/>
          <a:lstStyle/>
          <a:p>
            <a:pPr indent="0" marL="0">
              <a:buNone/>
            </a:pPr>
            <a:r>
              <a:rPr lang="en-US" sz="700" b="1" dirty="0">
                <a:solidFill>
                  <a:srgbClr val="789197"/>
                </a:solidFill>
              </a:rPr>
              <a:t>02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C3C44"/>
          </a:solidFill>
          <a:ln w="12700">
            <a:solidFill>
              <a:srgbClr val="0C3C44"/>
            </a:solidFill>
            <a:prstDash val="solid"/>
          </a:ln>
        </p:spPr>
      </p:sp>
      <p:sp>
        <p:nvSpPr>
          <p:cNvPr id="3" name="Text 1"/>
          <p:cNvSpPr/>
          <p:nvPr/>
        </p:nvSpPr>
        <p:spPr>
          <a:xfrm>
            <a:off x="502920" y="155448"/>
            <a:ext cx="8961120" cy="292608"/>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Structured analytics workflow</a:t>
            </a:r>
            <a:endParaRPr lang="en-US" sz="2200" dirty="0"/>
          </a:p>
        </p:txBody>
      </p:sp>
      <p:sp>
        <p:nvSpPr>
          <p:cNvPr id="4" name="Text 2"/>
          <p:cNvSpPr/>
          <p:nvPr/>
        </p:nvSpPr>
        <p:spPr>
          <a:xfrm>
            <a:off x="530352" y="466344"/>
            <a:ext cx="8778240" cy="164592"/>
          </a:xfrm>
          <a:prstGeom prst="rect">
            <a:avLst/>
          </a:prstGeom>
          <a:noFill/>
          <a:ln/>
        </p:spPr>
        <p:txBody>
          <a:bodyPr wrap="square" lIns="0" tIns="0" rIns="0" bIns="0" rtlCol="0" anchor="ctr"/>
          <a:lstStyle/>
          <a:p>
            <a:pPr indent="0" marL="0">
              <a:buNone/>
            </a:pPr>
            <a:r>
              <a:rPr lang="en-US" sz="950" dirty="0">
                <a:solidFill>
                  <a:srgbClr val="D8ECEF"/>
                </a:solidFill>
              </a:rPr>
              <a:t>The workbook preserves source data and separates cleaning, modeling, analysis, dashboard and recommendations.</a:t>
            </a:r>
            <a:endParaRPr lang="en-US" sz="950" dirty="0"/>
          </a:p>
        </p:txBody>
      </p:sp>
      <p:sp>
        <p:nvSpPr>
          <p:cNvPr id="5" name="Text 3"/>
          <p:cNvSpPr/>
          <p:nvPr/>
        </p:nvSpPr>
        <p:spPr>
          <a:xfrm>
            <a:off x="502920" y="2011680"/>
            <a:ext cx="1170432" cy="749808"/>
          </a:xfrm>
          <a:prstGeom prst="roundRect">
            <a:avLst>
              <a:gd name="adj" fmla="val 6098"/>
            </a:avLst>
          </a:prstGeom>
          <a:solidFill>
            <a:srgbClr val="FFFFFF"/>
          </a:solidFill>
          <a:ln w="12700">
            <a:solidFill>
              <a:srgbClr val="DCE5E8"/>
            </a:solidFill>
          </a:ln>
        </p:spPr>
        <p:txBody>
          <a:bodyPr wrap="square" lIns="254" tIns="254" rIns="254" bIns="254" rtlCol="0" anchor="ctr">
            <a:normAutofit/>
          </a:bodyPr>
          <a:lstStyle/>
          <a:p>
            <a:pPr algn="ctr" indent="0" marL="0">
              <a:buNone/>
            </a:pPr>
            <a:r>
              <a:rPr lang="en-US" sz="810" b="1" dirty="0">
                <a:solidFill>
                  <a:srgbClr val="0C3C44"/>
                </a:solidFill>
              </a:rPr>
              <a:t>RAW DATA</a:t>
            </a:r>
            <a:endParaRPr lang="en-US" sz="810" dirty="0"/>
          </a:p>
        </p:txBody>
      </p:sp>
      <p:sp>
        <p:nvSpPr>
          <p:cNvPr id="6" name="Text 4"/>
          <p:cNvSpPr/>
          <p:nvPr/>
        </p:nvSpPr>
        <p:spPr>
          <a:xfrm>
            <a:off x="1792224" y="2112264"/>
            <a:ext cx="201168" cy="329184"/>
          </a:xfrm>
          <a:prstGeom prst="rect">
            <a:avLst/>
          </a:prstGeom>
          <a:noFill/>
          <a:ln/>
        </p:spPr>
        <p:txBody>
          <a:bodyPr wrap="square" lIns="0" tIns="0" rIns="0" bIns="0" rtlCol="0" anchor="ctr"/>
          <a:lstStyle/>
          <a:p>
            <a:pPr algn="ctr" indent="0" marL="0">
              <a:buNone/>
            </a:pPr>
            <a:r>
              <a:rPr lang="en-US" sz="2400" b="1" dirty="0">
                <a:solidFill>
                  <a:srgbClr val="F5C452"/>
                </a:solidFill>
              </a:rPr>
              <a:t>›</a:t>
            </a:r>
            <a:endParaRPr lang="en-US" sz="2400" dirty="0"/>
          </a:p>
        </p:txBody>
      </p:sp>
      <p:sp>
        <p:nvSpPr>
          <p:cNvPr id="7" name="Text 5"/>
          <p:cNvSpPr/>
          <p:nvPr/>
        </p:nvSpPr>
        <p:spPr>
          <a:xfrm>
            <a:off x="2084832" y="2011680"/>
            <a:ext cx="1170432" cy="749808"/>
          </a:xfrm>
          <a:prstGeom prst="roundRect">
            <a:avLst>
              <a:gd name="adj" fmla="val 6098"/>
            </a:avLst>
          </a:prstGeom>
          <a:solidFill>
            <a:srgbClr val="FFFFFF"/>
          </a:solidFill>
          <a:ln w="12700">
            <a:solidFill>
              <a:srgbClr val="DCE5E8"/>
            </a:solidFill>
          </a:ln>
        </p:spPr>
        <p:txBody>
          <a:bodyPr wrap="square" lIns="254" tIns="254" rIns="254" bIns="254" rtlCol="0" anchor="ctr">
            <a:normAutofit/>
          </a:bodyPr>
          <a:lstStyle/>
          <a:p>
            <a:pPr algn="ctr" indent="0" marL="0">
              <a:buNone/>
            </a:pPr>
            <a:r>
              <a:rPr lang="en-US" sz="810" b="1" dirty="0">
                <a:solidFill>
                  <a:srgbClr val="0C3C44"/>
                </a:solidFill>
              </a:rPr>
              <a:t>DATA AUDIT</a:t>
            </a:r>
            <a:endParaRPr lang="en-US" sz="810" dirty="0"/>
          </a:p>
        </p:txBody>
      </p:sp>
      <p:sp>
        <p:nvSpPr>
          <p:cNvPr id="8" name="Text 6"/>
          <p:cNvSpPr/>
          <p:nvPr/>
        </p:nvSpPr>
        <p:spPr>
          <a:xfrm>
            <a:off x="3374136" y="2112264"/>
            <a:ext cx="201168" cy="329184"/>
          </a:xfrm>
          <a:prstGeom prst="rect">
            <a:avLst/>
          </a:prstGeom>
          <a:noFill/>
          <a:ln/>
        </p:spPr>
        <p:txBody>
          <a:bodyPr wrap="square" lIns="0" tIns="0" rIns="0" bIns="0" rtlCol="0" anchor="ctr"/>
          <a:lstStyle/>
          <a:p>
            <a:pPr algn="ctr" indent="0" marL="0">
              <a:buNone/>
            </a:pPr>
            <a:r>
              <a:rPr lang="en-US" sz="2400" b="1" dirty="0">
                <a:solidFill>
                  <a:srgbClr val="F5C452"/>
                </a:solidFill>
              </a:rPr>
              <a:t>›</a:t>
            </a:r>
            <a:endParaRPr lang="en-US" sz="2400" dirty="0"/>
          </a:p>
        </p:txBody>
      </p:sp>
      <p:sp>
        <p:nvSpPr>
          <p:cNvPr id="9" name="Text 7"/>
          <p:cNvSpPr/>
          <p:nvPr/>
        </p:nvSpPr>
        <p:spPr>
          <a:xfrm>
            <a:off x="3675888" y="2011680"/>
            <a:ext cx="1170432" cy="749808"/>
          </a:xfrm>
          <a:prstGeom prst="roundRect">
            <a:avLst>
              <a:gd name="adj" fmla="val 6098"/>
            </a:avLst>
          </a:prstGeom>
          <a:solidFill>
            <a:srgbClr val="FFFFFF"/>
          </a:solidFill>
          <a:ln w="12700">
            <a:solidFill>
              <a:srgbClr val="DCE5E8"/>
            </a:solidFill>
          </a:ln>
        </p:spPr>
        <p:txBody>
          <a:bodyPr wrap="square" lIns="254" tIns="254" rIns="254" bIns="254" rtlCol="0" anchor="ctr">
            <a:normAutofit/>
          </a:bodyPr>
          <a:lstStyle/>
          <a:p>
            <a:pPr algn="ctr" indent="0" marL="0">
              <a:buNone/>
            </a:pPr>
            <a:r>
              <a:rPr lang="en-US" sz="810" b="1" dirty="0">
                <a:solidFill>
                  <a:srgbClr val="0C3C44"/>
                </a:solidFill>
              </a:rPr>
              <a:t>CLEAN DATA</a:t>
            </a:r>
            <a:endParaRPr lang="en-US" sz="810" dirty="0"/>
          </a:p>
        </p:txBody>
      </p:sp>
      <p:sp>
        <p:nvSpPr>
          <p:cNvPr id="10" name="Text 8"/>
          <p:cNvSpPr/>
          <p:nvPr/>
        </p:nvSpPr>
        <p:spPr>
          <a:xfrm>
            <a:off x="4965192" y="2112264"/>
            <a:ext cx="201168" cy="329184"/>
          </a:xfrm>
          <a:prstGeom prst="rect">
            <a:avLst/>
          </a:prstGeom>
          <a:noFill/>
          <a:ln/>
        </p:spPr>
        <p:txBody>
          <a:bodyPr wrap="square" lIns="0" tIns="0" rIns="0" bIns="0" rtlCol="0" anchor="ctr"/>
          <a:lstStyle/>
          <a:p>
            <a:pPr algn="ctr" indent="0" marL="0">
              <a:buNone/>
            </a:pPr>
            <a:r>
              <a:rPr lang="en-US" sz="2400" b="1" dirty="0">
                <a:solidFill>
                  <a:srgbClr val="F5C452"/>
                </a:solidFill>
              </a:rPr>
              <a:t>›</a:t>
            </a:r>
            <a:endParaRPr lang="en-US" sz="2400" dirty="0"/>
          </a:p>
        </p:txBody>
      </p:sp>
      <p:sp>
        <p:nvSpPr>
          <p:cNvPr id="11" name="Text 9"/>
          <p:cNvSpPr/>
          <p:nvPr/>
        </p:nvSpPr>
        <p:spPr>
          <a:xfrm>
            <a:off x="5285232" y="2011680"/>
            <a:ext cx="1170432" cy="749808"/>
          </a:xfrm>
          <a:prstGeom prst="roundRect">
            <a:avLst>
              <a:gd name="adj" fmla="val 6098"/>
            </a:avLst>
          </a:prstGeom>
          <a:solidFill>
            <a:srgbClr val="0C3C44"/>
          </a:solidFill>
          <a:ln w="12700">
            <a:solidFill>
              <a:srgbClr val="0C3C44"/>
            </a:solidFill>
          </a:ln>
        </p:spPr>
        <p:txBody>
          <a:bodyPr wrap="square" lIns="254" tIns="254" rIns="254" bIns="254" rtlCol="0" anchor="ctr">
            <a:normAutofit/>
          </a:bodyPr>
          <a:lstStyle/>
          <a:p>
            <a:pPr algn="ctr" indent="0" marL="0">
              <a:buNone/>
            </a:pPr>
            <a:r>
              <a:rPr lang="en-US" sz="810" b="1" dirty="0">
                <a:solidFill>
                  <a:srgbClr val="FFFFFF"/>
                </a:solidFill>
              </a:rPr>
              <a:t>MODEL SALES</a:t>
            </a:r>
            <a:endParaRPr lang="en-US" sz="810" dirty="0"/>
          </a:p>
        </p:txBody>
      </p:sp>
      <p:sp>
        <p:nvSpPr>
          <p:cNvPr id="12" name="Text 10"/>
          <p:cNvSpPr/>
          <p:nvPr/>
        </p:nvSpPr>
        <p:spPr>
          <a:xfrm>
            <a:off x="6574536" y="2112264"/>
            <a:ext cx="201168" cy="329184"/>
          </a:xfrm>
          <a:prstGeom prst="rect">
            <a:avLst/>
          </a:prstGeom>
          <a:noFill/>
          <a:ln/>
        </p:spPr>
        <p:txBody>
          <a:bodyPr wrap="square" lIns="0" tIns="0" rIns="0" bIns="0" rtlCol="0" anchor="ctr"/>
          <a:lstStyle/>
          <a:p>
            <a:pPr algn="ctr" indent="0" marL="0">
              <a:buNone/>
            </a:pPr>
            <a:r>
              <a:rPr lang="en-US" sz="2400" b="1" dirty="0">
                <a:solidFill>
                  <a:srgbClr val="F5C452"/>
                </a:solidFill>
              </a:rPr>
              <a:t>›</a:t>
            </a:r>
            <a:endParaRPr lang="en-US" sz="2400" dirty="0"/>
          </a:p>
        </p:txBody>
      </p:sp>
      <p:sp>
        <p:nvSpPr>
          <p:cNvPr id="13" name="Text 11"/>
          <p:cNvSpPr/>
          <p:nvPr/>
        </p:nvSpPr>
        <p:spPr>
          <a:xfrm>
            <a:off x="7068312" y="2011680"/>
            <a:ext cx="1444752" cy="749808"/>
          </a:xfrm>
          <a:prstGeom prst="roundRect">
            <a:avLst>
              <a:gd name="adj" fmla="val 6098"/>
            </a:avLst>
          </a:prstGeom>
          <a:solidFill>
            <a:srgbClr val="FFFFFF"/>
          </a:solidFill>
          <a:ln w="12700">
            <a:solidFill>
              <a:srgbClr val="DCE5E8"/>
            </a:solidFill>
          </a:ln>
        </p:spPr>
        <p:txBody>
          <a:bodyPr wrap="square" lIns="254" tIns="254" rIns="254" bIns="254" rtlCol="0" anchor="ctr">
            <a:normAutofit/>
          </a:bodyPr>
          <a:lstStyle/>
          <a:p>
            <a:pPr algn="ctr" indent="0" marL="0">
              <a:buNone/>
            </a:pPr>
            <a:r>
              <a:rPr lang="en-US" sz="810" b="1" dirty="0">
                <a:solidFill>
                  <a:srgbClr val="0C3C44"/>
                </a:solidFill>
              </a:rPr>
              <a:t>PIVOTS &amp; CHARTS</a:t>
            </a:r>
            <a:endParaRPr lang="en-US" sz="810" dirty="0"/>
          </a:p>
        </p:txBody>
      </p:sp>
      <p:sp>
        <p:nvSpPr>
          <p:cNvPr id="14" name="Text 12"/>
          <p:cNvSpPr/>
          <p:nvPr/>
        </p:nvSpPr>
        <p:spPr>
          <a:xfrm>
            <a:off x="8631936" y="2112264"/>
            <a:ext cx="201168" cy="329184"/>
          </a:xfrm>
          <a:prstGeom prst="rect">
            <a:avLst/>
          </a:prstGeom>
          <a:noFill/>
          <a:ln/>
        </p:spPr>
        <p:txBody>
          <a:bodyPr wrap="square" lIns="0" tIns="0" rIns="0" bIns="0" rtlCol="0" anchor="ctr"/>
          <a:lstStyle/>
          <a:p>
            <a:pPr algn="ctr" indent="0" marL="0">
              <a:buNone/>
            </a:pPr>
            <a:r>
              <a:rPr lang="en-US" sz="2400" b="1" dirty="0">
                <a:solidFill>
                  <a:srgbClr val="F5C452"/>
                </a:solidFill>
              </a:rPr>
              <a:t>›</a:t>
            </a:r>
            <a:endParaRPr lang="en-US" sz="2400" dirty="0"/>
          </a:p>
        </p:txBody>
      </p:sp>
      <p:sp>
        <p:nvSpPr>
          <p:cNvPr id="15" name="Text 13"/>
          <p:cNvSpPr/>
          <p:nvPr/>
        </p:nvSpPr>
        <p:spPr>
          <a:xfrm>
            <a:off x="8961120" y="2011680"/>
            <a:ext cx="1225296" cy="749808"/>
          </a:xfrm>
          <a:prstGeom prst="roundRect">
            <a:avLst>
              <a:gd name="adj" fmla="val 6098"/>
            </a:avLst>
          </a:prstGeom>
          <a:solidFill>
            <a:srgbClr val="FFFFFF"/>
          </a:solidFill>
          <a:ln w="12700">
            <a:solidFill>
              <a:srgbClr val="DCE5E8"/>
            </a:solidFill>
          </a:ln>
        </p:spPr>
        <p:txBody>
          <a:bodyPr wrap="square" lIns="254" tIns="254" rIns="254" bIns="254" rtlCol="0" anchor="ctr">
            <a:normAutofit/>
          </a:bodyPr>
          <a:lstStyle/>
          <a:p>
            <a:pPr algn="ctr" indent="0" marL="0">
              <a:buNone/>
            </a:pPr>
            <a:r>
              <a:rPr lang="en-US" sz="810" b="1" dirty="0">
                <a:solidFill>
                  <a:srgbClr val="0C3C44"/>
                </a:solidFill>
              </a:rPr>
              <a:t>DASHBOARD</a:t>
            </a:r>
            <a:endParaRPr lang="en-US" sz="810" dirty="0"/>
          </a:p>
        </p:txBody>
      </p:sp>
      <p:sp>
        <p:nvSpPr>
          <p:cNvPr id="16" name="Text 14"/>
          <p:cNvSpPr/>
          <p:nvPr/>
        </p:nvSpPr>
        <p:spPr>
          <a:xfrm>
            <a:off x="10305288" y="2112264"/>
            <a:ext cx="201168" cy="329184"/>
          </a:xfrm>
          <a:prstGeom prst="rect">
            <a:avLst/>
          </a:prstGeom>
          <a:noFill/>
          <a:ln/>
        </p:spPr>
        <p:txBody>
          <a:bodyPr wrap="square" lIns="0" tIns="0" rIns="0" bIns="0" rtlCol="0" anchor="ctr"/>
          <a:lstStyle/>
          <a:p>
            <a:pPr algn="ctr" indent="0" marL="0">
              <a:buNone/>
            </a:pPr>
            <a:r>
              <a:rPr lang="en-US" sz="2400" b="1" dirty="0">
                <a:solidFill>
                  <a:srgbClr val="F5C452"/>
                </a:solidFill>
              </a:rPr>
              <a:t>›</a:t>
            </a:r>
            <a:endParaRPr lang="en-US" sz="2400" dirty="0"/>
          </a:p>
        </p:txBody>
      </p:sp>
      <p:sp>
        <p:nvSpPr>
          <p:cNvPr id="17" name="Text 15"/>
          <p:cNvSpPr/>
          <p:nvPr/>
        </p:nvSpPr>
        <p:spPr>
          <a:xfrm>
            <a:off x="10287000" y="2011680"/>
            <a:ext cx="1225296" cy="749808"/>
          </a:xfrm>
          <a:prstGeom prst="roundRect">
            <a:avLst>
              <a:gd name="adj" fmla="val 6098"/>
            </a:avLst>
          </a:prstGeom>
          <a:solidFill>
            <a:srgbClr val="FFFFFF"/>
          </a:solidFill>
          <a:ln w="12700">
            <a:solidFill>
              <a:srgbClr val="DCE5E8"/>
            </a:solidFill>
          </a:ln>
        </p:spPr>
        <p:txBody>
          <a:bodyPr wrap="square" lIns="254" tIns="254" rIns="254" bIns="254" rtlCol="0" anchor="ctr">
            <a:normAutofit/>
          </a:bodyPr>
          <a:lstStyle/>
          <a:p>
            <a:pPr algn="ctr" indent="0" marL="0">
              <a:buNone/>
            </a:pPr>
            <a:r>
              <a:rPr lang="en-US" sz="810" b="1" dirty="0">
                <a:solidFill>
                  <a:srgbClr val="0C3C44"/>
                </a:solidFill>
              </a:rPr>
              <a:t>INSIGHTS</a:t>
            </a:r>
            <a:endParaRPr lang="en-US" sz="810" dirty="0"/>
          </a:p>
        </p:txBody>
      </p:sp>
      <p:sp>
        <p:nvSpPr>
          <p:cNvPr id="18" name="Text 16"/>
          <p:cNvSpPr/>
          <p:nvPr/>
        </p:nvSpPr>
        <p:spPr>
          <a:xfrm>
            <a:off x="685800" y="3337560"/>
            <a:ext cx="3931920" cy="228600"/>
          </a:xfrm>
          <a:prstGeom prst="rect">
            <a:avLst/>
          </a:prstGeom>
          <a:noFill/>
          <a:ln/>
        </p:spPr>
        <p:txBody>
          <a:bodyPr wrap="square" lIns="0" tIns="0" rIns="0" bIns="0" rtlCol="0" anchor="ctr"/>
          <a:lstStyle/>
          <a:p>
            <a:pPr indent="0" marL="0">
              <a:buNone/>
            </a:pPr>
            <a:r>
              <a:rPr lang="en-US" sz="1000" b="1" dirty="0">
                <a:solidFill>
                  <a:srgbClr val="0C3C44"/>
                </a:solidFill>
              </a:rPr>
              <a:t>What this demonstrates</a:t>
            </a:r>
            <a:endParaRPr lang="en-US" sz="1000" dirty="0"/>
          </a:p>
        </p:txBody>
      </p:sp>
      <p:sp>
        <p:nvSpPr>
          <p:cNvPr id="19" name="Shape 17"/>
          <p:cNvSpPr/>
          <p:nvPr/>
        </p:nvSpPr>
        <p:spPr>
          <a:xfrm>
            <a:off x="685800" y="3611880"/>
            <a:ext cx="3931920" cy="0"/>
          </a:xfrm>
          <a:prstGeom prst="line">
            <a:avLst/>
          </a:prstGeom>
          <a:noFill/>
          <a:ln w="15240">
            <a:solidFill>
              <a:srgbClr val="0C3C44"/>
            </a:solidFill>
            <a:prstDash val="solid"/>
          </a:ln>
        </p:spPr>
      </p:sp>
      <p:sp>
        <p:nvSpPr>
          <p:cNvPr id="20" name="Shape 18"/>
          <p:cNvSpPr/>
          <p:nvPr/>
        </p:nvSpPr>
        <p:spPr>
          <a:xfrm>
            <a:off x="685800" y="3730752"/>
            <a:ext cx="4800600" cy="658368"/>
          </a:xfrm>
          <a:prstGeom prst="rect">
            <a:avLst/>
          </a:prstGeom>
          <a:solidFill>
            <a:srgbClr val="FFFFFF"/>
          </a:solidFill>
          <a:ln w="10160">
            <a:solidFill>
              <a:srgbClr val="DCE5E8"/>
            </a:solidFill>
            <a:prstDash val="solid"/>
          </a:ln>
        </p:spPr>
      </p:sp>
      <p:sp>
        <p:nvSpPr>
          <p:cNvPr id="21" name="Shape 19"/>
          <p:cNvSpPr/>
          <p:nvPr/>
        </p:nvSpPr>
        <p:spPr>
          <a:xfrm>
            <a:off x="685800" y="3730752"/>
            <a:ext cx="73152" cy="658368"/>
          </a:xfrm>
          <a:prstGeom prst="rect">
            <a:avLst/>
          </a:prstGeom>
          <a:solidFill>
            <a:srgbClr val="0C3C44"/>
          </a:solidFill>
          <a:ln w="12700">
            <a:solidFill>
              <a:srgbClr val="0C3C44"/>
            </a:solidFill>
            <a:prstDash val="solid"/>
          </a:ln>
        </p:spPr>
      </p:sp>
      <p:sp>
        <p:nvSpPr>
          <p:cNvPr id="22" name="Text 20"/>
          <p:cNvSpPr/>
          <p:nvPr/>
        </p:nvSpPr>
        <p:spPr>
          <a:xfrm>
            <a:off x="886968" y="3858768"/>
            <a:ext cx="4489704" cy="475488"/>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Multi-table modeling: sales, customers, products, stores and exchange rates were combined into a central analytical sales model.</a:t>
            </a:r>
            <a:endParaRPr lang="en-US" sz="1120" dirty="0"/>
          </a:p>
        </p:txBody>
      </p:sp>
      <p:sp>
        <p:nvSpPr>
          <p:cNvPr id="23" name="Shape 21"/>
          <p:cNvSpPr/>
          <p:nvPr/>
        </p:nvSpPr>
        <p:spPr>
          <a:xfrm>
            <a:off x="685800" y="4526280"/>
            <a:ext cx="4800600" cy="658368"/>
          </a:xfrm>
          <a:prstGeom prst="rect">
            <a:avLst/>
          </a:prstGeom>
          <a:solidFill>
            <a:srgbClr val="FFFFFF"/>
          </a:solidFill>
          <a:ln w="10160">
            <a:solidFill>
              <a:srgbClr val="DCE5E8"/>
            </a:solidFill>
            <a:prstDash val="solid"/>
          </a:ln>
        </p:spPr>
      </p:sp>
      <p:sp>
        <p:nvSpPr>
          <p:cNvPr id="24" name="Shape 22"/>
          <p:cNvSpPr/>
          <p:nvPr/>
        </p:nvSpPr>
        <p:spPr>
          <a:xfrm>
            <a:off x="685800" y="4526280"/>
            <a:ext cx="73152" cy="658368"/>
          </a:xfrm>
          <a:prstGeom prst="rect">
            <a:avLst/>
          </a:prstGeom>
          <a:solidFill>
            <a:srgbClr val="397BDB"/>
          </a:solidFill>
          <a:ln w="12700">
            <a:solidFill>
              <a:srgbClr val="397BDB"/>
            </a:solidFill>
            <a:prstDash val="solid"/>
          </a:ln>
        </p:spPr>
      </p:sp>
      <p:sp>
        <p:nvSpPr>
          <p:cNvPr id="25" name="Text 23"/>
          <p:cNvSpPr/>
          <p:nvPr/>
        </p:nvSpPr>
        <p:spPr>
          <a:xfrm>
            <a:off x="886968" y="4654296"/>
            <a:ext cx="4489704" cy="475488"/>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Business features: revenue, cost, profit, margin, delivery days, customer age, channel, year, quarter and month dimensions.</a:t>
            </a:r>
            <a:endParaRPr lang="en-US" sz="1120" dirty="0"/>
          </a:p>
        </p:txBody>
      </p:sp>
      <p:sp>
        <p:nvSpPr>
          <p:cNvPr id="26" name="Text 24"/>
          <p:cNvSpPr/>
          <p:nvPr/>
        </p:nvSpPr>
        <p:spPr>
          <a:xfrm>
            <a:off x="6492240" y="3337560"/>
            <a:ext cx="3931920" cy="228600"/>
          </a:xfrm>
          <a:prstGeom prst="rect">
            <a:avLst/>
          </a:prstGeom>
          <a:noFill/>
          <a:ln/>
        </p:spPr>
        <p:txBody>
          <a:bodyPr wrap="square" lIns="0" tIns="0" rIns="0" bIns="0" rtlCol="0" anchor="ctr"/>
          <a:lstStyle/>
          <a:p>
            <a:pPr indent="0" marL="0">
              <a:buNone/>
            </a:pPr>
            <a:r>
              <a:rPr lang="en-US" sz="1000" b="1" dirty="0">
                <a:solidFill>
                  <a:srgbClr val="0C3C44"/>
                </a:solidFill>
              </a:rPr>
              <a:t>Final deliverables</a:t>
            </a:r>
            <a:endParaRPr lang="en-US" sz="1000" dirty="0"/>
          </a:p>
        </p:txBody>
      </p:sp>
      <p:sp>
        <p:nvSpPr>
          <p:cNvPr id="27" name="Shape 25"/>
          <p:cNvSpPr/>
          <p:nvPr/>
        </p:nvSpPr>
        <p:spPr>
          <a:xfrm>
            <a:off x="6492240" y="3611880"/>
            <a:ext cx="3931920" cy="0"/>
          </a:xfrm>
          <a:prstGeom prst="line">
            <a:avLst/>
          </a:prstGeom>
          <a:noFill/>
          <a:ln w="15240">
            <a:solidFill>
              <a:srgbClr val="0C3C44"/>
            </a:solidFill>
            <a:prstDash val="solid"/>
          </a:ln>
        </p:spPr>
      </p:sp>
      <p:sp>
        <p:nvSpPr>
          <p:cNvPr id="28" name="Shape 26"/>
          <p:cNvSpPr/>
          <p:nvPr/>
        </p:nvSpPr>
        <p:spPr>
          <a:xfrm>
            <a:off x="6492240" y="3730752"/>
            <a:ext cx="4800600" cy="658368"/>
          </a:xfrm>
          <a:prstGeom prst="rect">
            <a:avLst/>
          </a:prstGeom>
          <a:solidFill>
            <a:srgbClr val="FFFFFF"/>
          </a:solidFill>
          <a:ln w="10160">
            <a:solidFill>
              <a:srgbClr val="DCE5E8"/>
            </a:solidFill>
            <a:prstDash val="solid"/>
          </a:ln>
        </p:spPr>
      </p:sp>
      <p:sp>
        <p:nvSpPr>
          <p:cNvPr id="29" name="Shape 27"/>
          <p:cNvSpPr/>
          <p:nvPr/>
        </p:nvSpPr>
        <p:spPr>
          <a:xfrm>
            <a:off x="6492240" y="3730752"/>
            <a:ext cx="73152" cy="658368"/>
          </a:xfrm>
          <a:prstGeom prst="rect">
            <a:avLst/>
          </a:prstGeom>
          <a:solidFill>
            <a:srgbClr val="27561B"/>
          </a:solidFill>
          <a:ln w="12700">
            <a:solidFill>
              <a:srgbClr val="27561B"/>
            </a:solidFill>
            <a:prstDash val="solid"/>
          </a:ln>
        </p:spPr>
      </p:sp>
      <p:sp>
        <p:nvSpPr>
          <p:cNvPr id="30" name="Text 28"/>
          <p:cNvSpPr/>
          <p:nvPr/>
        </p:nvSpPr>
        <p:spPr>
          <a:xfrm>
            <a:off x="6693408" y="3858768"/>
            <a:ext cx="4489704" cy="475488"/>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Executive dashboard with KPI cards, trend analysis, product/geography/channel views and operational delivery trends.</a:t>
            </a:r>
            <a:endParaRPr lang="en-US" sz="1120" dirty="0"/>
          </a:p>
        </p:txBody>
      </p:sp>
      <p:sp>
        <p:nvSpPr>
          <p:cNvPr id="31" name="Shape 29"/>
          <p:cNvSpPr/>
          <p:nvPr/>
        </p:nvSpPr>
        <p:spPr>
          <a:xfrm>
            <a:off x="6492240" y="4526280"/>
            <a:ext cx="4800600" cy="658368"/>
          </a:xfrm>
          <a:prstGeom prst="rect">
            <a:avLst/>
          </a:prstGeom>
          <a:solidFill>
            <a:srgbClr val="FFFFFF"/>
          </a:solidFill>
          <a:ln w="10160">
            <a:solidFill>
              <a:srgbClr val="DCE5E8"/>
            </a:solidFill>
            <a:prstDash val="solid"/>
          </a:ln>
        </p:spPr>
      </p:sp>
      <p:sp>
        <p:nvSpPr>
          <p:cNvPr id="32" name="Shape 30"/>
          <p:cNvSpPr/>
          <p:nvPr/>
        </p:nvSpPr>
        <p:spPr>
          <a:xfrm>
            <a:off x="6492240" y="4526280"/>
            <a:ext cx="73152" cy="658368"/>
          </a:xfrm>
          <a:prstGeom prst="rect">
            <a:avLst/>
          </a:prstGeom>
          <a:solidFill>
            <a:srgbClr val="E8473F"/>
          </a:solidFill>
          <a:ln w="12700">
            <a:solidFill>
              <a:srgbClr val="E8473F"/>
            </a:solidFill>
            <a:prstDash val="solid"/>
          </a:ln>
        </p:spPr>
      </p:sp>
      <p:sp>
        <p:nvSpPr>
          <p:cNvPr id="33" name="Text 31"/>
          <p:cNvSpPr/>
          <p:nvPr/>
        </p:nvSpPr>
        <p:spPr>
          <a:xfrm>
            <a:off x="6693408" y="4654296"/>
            <a:ext cx="4489704" cy="475488"/>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Executive insights sheet with conclusions and six strategic recommendations for management.</a:t>
            </a:r>
            <a:endParaRPr lang="en-US" sz="1120" dirty="0"/>
          </a:p>
        </p:txBody>
      </p:sp>
      <p:sp>
        <p:nvSpPr>
          <p:cNvPr id="34" name="Text 32"/>
          <p:cNvSpPr/>
          <p:nvPr/>
        </p:nvSpPr>
        <p:spPr>
          <a:xfrm>
            <a:off x="11576304" y="6565392"/>
            <a:ext cx="228600" cy="137160"/>
          </a:xfrm>
          <a:prstGeom prst="rect">
            <a:avLst/>
          </a:prstGeom>
          <a:noFill/>
          <a:ln/>
        </p:spPr>
        <p:txBody>
          <a:bodyPr wrap="square" lIns="0" tIns="0" rIns="0" bIns="0" rtlCol="0" anchor="ctr"/>
          <a:lstStyle/>
          <a:p>
            <a:pPr indent="0" marL="0">
              <a:buNone/>
            </a:pPr>
            <a:r>
              <a:rPr lang="en-US" sz="700" b="1" dirty="0">
                <a:solidFill>
                  <a:srgbClr val="789197"/>
                </a:solidFill>
              </a:rPr>
              <a:t>03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C3C44"/>
          </a:solidFill>
          <a:ln w="12700">
            <a:solidFill>
              <a:srgbClr val="0C3C44"/>
            </a:solidFill>
            <a:prstDash val="solid"/>
          </a:ln>
        </p:spPr>
      </p:sp>
      <p:sp>
        <p:nvSpPr>
          <p:cNvPr id="3" name="Text 1"/>
          <p:cNvSpPr/>
          <p:nvPr/>
        </p:nvSpPr>
        <p:spPr>
          <a:xfrm>
            <a:off x="502920" y="155448"/>
            <a:ext cx="8961120" cy="292608"/>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Revenue grew until 2019, then reversed</a:t>
            </a:r>
            <a:endParaRPr lang="en-US" sz="2200" dirty="0"/>
          </a:p>
        </p:txBody>
      </p:sp>
      <p:sp>
        <p:nvSpPr>
          <p:cNvPr id="4" name="Text 2"/>
          <p:cNvSpPr/>
          <p:nvPr/>
        </p:nvSpPr>
        <p:spPr>
          <a:xfrm>
            <a:off x="530352" y="466344"/>
            <a:ext cx="8778240" cy="164592"/>
          </a:xfrm>
          <a:prstGeom prst="rect">
            <a:avLst/>
          </a:prstGeom>
          <a:noFill/>
          <a:ln/>
        </p:spPr>
        <p:txBody>
          <a:bodyPr wrap="square" lIns="0" tIns="0" rIns="0" bIns="0" rtlCol="0" anchor="ctr"/>
          <a:lstStyle/>
          <a:p>
            <a:pPr indent="0" marL="0">
              <a:buNone/>
            </a:pPr>
            <a:r>
              <a:rPr lang="en-US" sz="950" dirty="0">
                <a:solidFill>
                  <a:srgbClr val="D8ECEF"/>
                </a:solidFill>
              </a:rPr>
              <a:t>The strongest full-year result was 2019; 2020 fell sharply and 2021 is a partial year.</a:t>
            </a:r>
            <a:endParaRPr lang="en-US" sz="950" dirty="0"/>
          </a:p>
        </p:txBody>
      </p:sp>
      <p:graphicFrame>
        <p:nvGraphicFramePr>
          <p:cNvPr id="5" name="Chart 0" descr=""/>
          <p:cNvGraphicFramePr/>
          <p:nvPr/>
        </p:nvGraphicFramePr>
        <p:xfrm>
          <a:off x="594360" y="1234440"/>
          <a:ext cx="74066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458200" y="1325880"/>
            <a:ext cx="3108960" cy="3456432"/>
          </a:xfrm>
          <a:prstGeom prst="rect">
            <a:avLst/>
          </a:prstGeom>
          <a:solidFill>
            <a:srgbClr val="FFFFFF"/>
          </a:solidFill>
          <a:ln w="12700">
            <a:solidFill>
              <a:srgbClr val="DCE5E8"/>
            </a:solidFill>
            <a:prstDash val="solid"/>
          </a:ln>
        </p:spPr>
      </p:sp>
      <p:sp>
        <p:nvSpPr>
          <p:cNvPr id="7" name="Text 4"/>
          <p:cNvSpPr/>
          <p:nvPr/>
        </p:nvSpPr>
        <p:spPr>
          <a:xfrm>
            <a:off x="8705088" y="1600200"/>
            <a:ext cx="2560320" cy="201168"/>
          </a:xfrm>
          <a:prstGeom prst="rect">
            <a:avLst/>
          </a:prstGeom>
          <a:noFill/>
          <a:ln/>
        </p:spPr>
        <p:txBody>
          <a:bodyPr wrap="square" lIns="0" tIns="0" rIns="0" bIns="0" rtlCol="0" anchor="ctr"/>
          <a:lstStyle/>
          <a:p>
            <a:pPr indent="0" marL="0">
              <a:buNone/>
            </a:pPr>
            <a:r>
              <a:rPr lang="en-US" sz="1400" b="1" dirty="0">
                <a:solidFill>
                  <a:srgbClr val="0C3C44"/>
                </a:solidFill>
              </a:rPr>
              <a:t>Management interpretation</a:t>
            </a:r>
            <a:endParaRPr lang="en-US" sz="1400" dirty="0"/>
          </a:p>
        </p:txBody>
      </p:sp>
      <p:sp>
        <p:nvSpPr>
          <p:cNvPr id="8" name="Text 5"/>
          <p:cNvSpPr/>
          <p:nvPr/>
        </p:nvSpPr>
        <p:spPr>
          <a:xfrm>
            <a:off x="8705088" y="2057400"/>
            <a:ext cx="2514600" cy="1298448"/>
          </a:xfrm>
          <a:prstGeom prst="rect">
            <a:avLst/>
          </a:prstGeom>
          <a:noFill/>
          <a:ln/>
        </p:spPr>
        <p:txBody>
          <a:bodyPr wrap="square" lIns="254" tIns="254" rIns="254" bIns="254" rtlCol="0" anchor="ctr">
            <a:normAutofit/>
          </a:bodyPr>
          <a:lstStyle/>
          <a:p>
            <a:r>
              <a:rPr lang="en-US" sz="1220" dirty="0">
                <a:solidFill>
                  <a:srgbClr val="182A2F"/>
                </a:solidFill>
              </a:rPr>
              <a:t>• Strong scaling from 2016 to 2019</a:t>
            </a:r>
            <a:endParaRPr lang="en-US" sz="1220" dirty="0"/>
          </a:p>
          <a:p>
            <a:r>
              <a:rPr lang="en-US" sz="1220" dirty="0">
                <a:solidFill>
                  <a:srgbClr val="182A2F"/>
                </a:solidFill>
              </a:rPr>
              <a:t>• Profit moved with revenue, preserving a healthy margin</a:t>
            </a:r>
            <a:endParaRPr lang="en-US" sz="1220" dirty="0"/>
          </a:p>
          <a:p>
            <a:r>
              <a:rPr lang="en-US" sz="1220" dirty="0">
                <a:solidFill>
                  <a:srgbClr val="182A2F"/>
                </a:solidFill>
              </a:rPr>
              <a:t>• 2020 decline needs deeper cause analysis</a:t>
            </a:r>
            <a:endParaRPr lang="en-US" sz="1220" dirty="0"/>
          </a:p>
          <a:p>
            <a:r>
              <a:rPr lang="en-US" sz="1220" dirty="0">
                <a:solidFill>
                  <a:srgbClr val="182A2F"/>
                </a:solidFill>
              </a:rPr>
              <a:t>• 2021 must be treated as incomplete data</a:t>
            </a:r>
            <a:endParaRPr lang="en-US" sz="1220" dirty="0"/>
          </a:p>
        </p:txBody>
      </p:sp>
      <p:sp>
        <p:nvSpPr>
          <p:cNvPr id="9" name="Shape 6"/>
          <p:cNvSpPr/>
          <p:nvPr/>
        </p:nvSpPr>
        <p:spPr>
          <a:xfrm>
            <a:off x="8732520" y="3886200"/>
            <a:ext cx="2011680" cy="292608"/>
          </a:xfrm>
          <a:prstGeom prst="roundRect">
            <a:avLst>
              <a:gd name="adj" fmla="val 18750"/>
            </a:avLst>
          </a:prstGeom>
          <a:solidFill>
            <a:srgbClr val="FEF3CF"/>
          </a:solidFill>
          <a:ln w="12700">
            <a:solidFill>
              <a:srgbClr val="FEF3CF"/>
            </a:solidFill>
            <a:prstDash val="solid"/>
          </a:ln>
        </p:spPr>
      </p:sp>
      <p:sp>
        <p:nvSpPr>
          <p:cNvPr id="10" name="Text 7"/>
          <p:cNvSpPr/>
          <p:nvPr/>
        </p:nvSpPr>
        <p:spPr>
          <a:xfrm>
            <a:off x="8842248" y="3959352"/>
            <a:ext cx="1792224" cy="137160"/>
          </a:xfrm>
          <a:prstGeom prst="rect">
            <a:avLst/>
          </a:prstGeom>
          <a:noFill/>
          <a:ln/>
        </p:spPr>
        <p:txBody>
          <a:bodyPr wrap="square" lIns="0" tIns="0" rIns="0" bIns="0" rtlCol="0" anchor="ctr"/>
          <a:lstStyle/>
          <a:p>
            <a:pPr algn="ctr" indent="0" marL="0">
              <a:buNone/>
            </a:pPr>
            <a:r>
              <a:rPr lang="en-US" sz="800" b="1" dirty="0">
                <a:solidFill>
                  <a:srgbClr val="8A6518"/>
                </a:solidFill>
              </a:rPr>
              <a:t>2021 = Jan–Feb only</a:t>
            </a:r>
            <a:endParaRPr lang="en-US" sz="800" dirty="0"/>
          </a:p>
        </p:txBody>
      </p:sp>
      <p:sp>
        <p:nvSpPr>
          <p:cNvPr id="11" name="Text 8"/>
          <p:cNvSpPr/>
          <p:nvPr/>
        </p:nvSpPr>
        <p:spPr>
          <a:xfrm>
            <a:off x="11576304" y="6565392"/>
            <a:ext cx="228600" cy="137160"/>
          </a:xfrm>
          <a:prstGeom prst="rect">
            <a:avLst/>
          </a:prstGeom>
          <a:noFill/>
          <a:ln/>
        </p:spPr>
        <p:txBody>
          <a:bodyPr wrap="square" lIns="0" tIns="0" rIns="0" bIns="0" rtlCol="0" anchor="ctr"/>
          <a:lstStyle/>
          <a:p>
            <a:pPr indent="0" marL="0">
              <a:buNone/>
            </a:pPr>
            <a:r>
              <a:rPr lang="en-US" sz="700" b="1" dirty="0">
                <a:solidFill>
                  <a:srgbClr val="789197"/>
                </a:solidFill>
              </a:rPr>
              <a:t>04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C3C44"/>
          </a:solidFill>
          <a:ln w="12700">
            <a:solidFill>
              <a:srgbClr val="0C3C44"/>
            </a:solidFill>
            <a:prstDash val="solid"/>
          </a:ln>
        </p:spPr>
      </p:sp>
      <p:sp>
        <p:nvSpPr>
          <p:cNvPr id="3" name="Text 1"/>
          <p:cNvSpPr/>
          <p:nvPr/>
        </p:nvSpPr>
        <p:spPr>
          <a:xfrm>
            <a:off x="502920" y="155448"/>
            <a:ext cx="8961120" cy="292608"/>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Computers are the primary product engine</a:t>
            </a:r>
            <a:endParaRPr lang="en-US" sz="2200" dirty="0"/>
          </a:p>
        </p:txBody>
      </p:sp>
      <p:sp>
        <p:nvSpPr>
          <p:cNvPr id="4" name="Text 2"/>
          <p:cNvSpPr/>
          <p:nvPr/>
        </p:nvSpPr>
        <p:spPr>
          <a:xfrm>
            <a:off x="530352" y="466344"/>
            <a:ext cx="8778240" cy="164592"/>
          </a:xfrm>
          <a:prstGeom prst="rect">
            <a:avLst/>
          </a:prstGeom>
          <a:noFill/>
          <a:ln/>
        </p:spPr>
        <p:txBody>
          <a:bodyPr wrap="square" lIns="0" tIns="0" rIns="0" bIns="0" rtlCol="0" anchor="ctr"/>
          <a:lstStyle/>
          <a:p>
            <a:pPr indent="0" marL="0">
              <a:buNone/>
            </a:pPr>
            <a:r>
              <a:rPr lang="en-US" sz="950" dirty="0">
                <a:solidFill>
                  <a:srgbClr val="D8ECEF"/>
                </a:solidFill>
              </a:rPr>
              <a:t>Category performance shows clear revenue and profit leadership.</a:t>
            </a:r>
            <a:endParaRPr lang="en-US" sz="950" dirty="0"/>
          </a:p>
        </p:txBody>
      </p:sp>
      <p:graphicFrame>
        <p:nvGraphicFramePr>
          <p:cNvPr id="5" name="Chart 0" descr=""/>
          <p:cNvGraphicFramePr/>
          <p:nvPr/>
        </p:nvGraphicFramePr>
        <p:xfrm>
          <a:off x="548640" y="1115568"/>
          <a:ext cx="534924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382512" y="1115568"/>
          <a:ext cx="5257800" cy="44348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640080" y="868680"/>
            <a:ext cx="3474720" cy="201168"/>
          </a:xfrm>
          <a:prstGeom prst="rect">
            <a:avLst/>
          </a:prstGeom>
          <a:noFill/>
          <a:ln/>
        </p:spPr>
        <p:txBody>
          <a:bodyPr wrap="square" lIns="0" tIns="0" rIns="0" bIns="0" rtlCol="0" anchor="ctr"/>
          <a:lstStyle/>
          <a:p>
            <a:pPr indent="0" marL="0">
              <a:buNone/>
            </a:pPr>
            <a:r>
              <a:rPr lang="en-US" sz="1300" b="1" dirty="0">
                <a:solidFill>
                  <a:srgbClr val="0C3C44"/>
                </a:solidFill>
              </a:rPr>
              <a:t>Revenue by Category</a:t>
            </a:r>
            <a:endParaRPr lang="en-US" sz="1300" dirty="0"/>
          </a:p>
        </p:txBody>
      </p:sp>
      <p:sp>
        <p:nvSpPr>
          <p:cNvPr id="8" name="Text 4"/>
          <p:cNvSpPr/>
          <p:nvPr/>
        </p:nvSpPr>
        <p:spPr>
          <a:xfrm>
            <a:off x="6473952" y="868680"/>
            <a:ext cx="3474720" cy="201168"/>
          </a:xfrm>
          <a:prstGeom prst="rect">
            <a:avLst/>
          </a:prstGeom>
          <a:noFill/>
          <a:ln/>
        </p:spPr>
        <p:txBody>
          <a:bodyPr wrap="square" lIns="0" tIns="0" rIns="0" bIns="0" rtlCol="0" anchor="ctr"/>
          <a:lstStyle/>
          <a:p>
            <a:pPr indent="0" marL="0">
              <a:buNone/>
            </a:pPr>
            <a:r>
              <a:rPr lang="en-US" sz="1300" b="1" dirty="0">
                <a:solidFill>
                  <a:srgbClr val="0C3C44"/>
                </a:solidFill>
              </a:rPr>
              <a:t>Profit by Category</a:t>
            </a:r>
            <a:endParaRPr lang="en-US" sz="1300" dirty="0"/>
          </a:p>
        </p:txBody>
      </p:sp>
      <p:sp>
        <p:nvSpPr>
          <p:cNvPr id="9" name="Shape 5"/>
          <p:cNvSpPr/>
          <p:nvPr/>
        </p:nvSpPr>
        <p:spPr>
          <a:xfrm>
            <a:off x="731520" y="5705856"/>
            <a:ext cx="4983480" cy="502920"/>
          </a:xfrm>
          <a:prstGeom prst="rect">
            <a:avLst/>
          </a:prstGeom>
          <a:solidFill>
            <a:srgbClr val="FFFFFF"/>
          </a:solidFill>
          <a:ln w="10160">
            <a:solidFill>
              <a:srgbClr val="DCE5E8"/>
            </a:solidFill>
            <a:prstDash val="solid"/>
          </a:ln>
        </p:spPr>
      </p:sp>
      <p:sp>
        <p:nvSpPr>
          <p:cNvPr id="10" name="Shape 6"/>
          <p:cNvSpPr/>
          <p:nvPr/>
        </p:nvSpPr>
        <p:spPr>
          <a:xfrm>
            <a:off x="731520" y="5705856"/>
            <a:ext cx="73152" cy="502920"/>
          </a:xfrm>
          <a:prstGeom prst="rect">
            <a:avLst/>
          </a:prstGeom>
          <a:solidFill>
            <a:srgbClr val="397BDB"/>
          </a:solidFill>
          <a:ln w="12700">
            <a:solidFill>
              <a:srgbClr val="397BDB"/>
            </a:solidFill>
            <a:prstDash val="solid"/>
          </a:ln>
        </p:spPr>
      </p:sp>
      <p:sp>
        <p:nvSpPr>
          <p:cNvPr id="11" name="Text 7"/>
          <p:cNvSpPr/>
          <p:nvPr/>
        </p:nvSpPr>
        <p:spPr>
          <a:xfrm>
            <a:off x="932688" y="5833872"/>
            <a:ext cx="4672584" cy="320040"/>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Computers deliver $19.30M revenue and $11.27M profit.</a:t>
            </a:r>
            <a:endParaRPr lang="en-US" sz="1120" dirty="0"/>
          </a:p>
        </p:txBody>
      </p:sp>
      <p:sp>
        <p:nvSpPr>
          <p:cNvPr id="12" name="Shape 8"/>
          <p:cNvSpPr/>
          <p:nvPr/>
        </p:nvSpPr>
        <p:spPr>
          <a:xfrm>
            <a:off x="6473952" y="5705856"/>
            <a:ext cx="4892040" cy="502920"/>
          </a:xfrm>
          <a:prstGeom prst="rect">
            <a:avLst/>
          </a:prstGeom>
          <a:solidFill>
            <a:srgbClr val="FFFFFF"/>
          </a:solidFill>
          <a:ln w="10160">
            <a:solidFill>
              <a:srgbClr val="DCE5E8"/>
            </a:solidFill>
            <a:prstDash val="solid"/>
          </a:ln>
        </p:spPr>
      </p:sp>
      <p:sp>
        <p:nvSpPr>
          <p:cNvPr id="13" name="Shape 9"/>
          <p:cNvSpPr/>
          <p:nvPr/>
        </p:nvSpPr>
        <p:spPr>
          <a:xfrm>
            <a:off x="6473952" y="5705856"/>
            <a:ext cx="73152" cy="502920"/>
          </a:xfrm>
          <a:prstGeom prst="rect">
            <a:avLst/>
          </a:prstGeom>
          <a:solidFill>
            <a:srgbClr val="27561B"/>
          </a:solidFill>
          <a:ln w="12700">
            <a:solidFill>
              <a:srgbClr val="27561B"/>
            </a:solidFill>
            <a:prstDash val="solid"/>
          </a:ln>
        </p:spPr>
      </p:sp>
      <p:sp>
        <p:nvSpPr>
          <p:cNvPr id="14" name="Text 10"/>
          <p:cNvSpPr/>
          <p:nvPr/>
        </p:nvSpPr>
        <p:spPr>
          <a:xfrm>
            <a:off x="6675120" y="5833872"/>
            <a:ext cx="4581144" cy="320040"/>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Protect supply, pricing, promotions and cross-selling around the leading category.</a:t>
            </a:r>
            <a:endParaRPr lang="en-US" sz="1120" dirty="0"/>
          </a:p>
        </p:txBody>
      </p:sp>
      <p:sp>
        <p:nvSpPr>
          <p:cNvPr id="15" name="Text 11"/>
          <p:cNvSpPr/>
          <p:nvPr/>
        </p:nvSpPr>
        <p:spPr>
          <a:xfrm>
            <a:off x="11576304" y="6565392"/>
            <a:ext cx="228600" cy="137160"/>
          </a:xfrm>
          <a:prstGeom prst="rect">
            <a:avLst/>
          </a:prstGeom>
          <a:noFill/>
          <a:ln/>
        </p:spPr>
        <p:txBody>
          <a:bodyPr wrap="square" lIns="0" tIns="0" rIns="0" bIns="0" rtlCol="0" anchor="ctr"/>
          <a:lstStyle/>
          <a:p>
            <a:pPr indent="0" marL="0">
              <a:buNone/>
            </a:pPr>
            <a:r>
              <a:rPr lang="en-US" sz="700" b="1" dirty="0">
                <a:solidFill>
                  <a:srgbClr val="789197"/>
                </a:solidFill>
              </a:rPr>
              <a:t>05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C3C44"/>
          </a:solidFill>
          <a:ln w="12700">
            <a:solidFill>
              <a:srgbClr val="0C3C44"/>
            </a:solidFill>
            <a:prstDash val="solid"/>
          </a:ln>
        </p:spPr>
      </p:sp>
      <p:sp>
        <p:nvSpPr>
          <p:cNvPr id="3" name="Text 1"/>
          <p:cNvSpPr/>
          <p:nvPr/>
        </p:nvSpPr>
        <p:spPr>
          <a:xfrm>
            <a:off x="502920" y="155448"/>
            <a:ext cx="8961120" cy="292608"/>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Market concentration: U.S. customers and specific store states lead</a:t>
            </a:r>
            <a:endParaRPr lang="en-US" sz="2200" dirty="0"/>
          </a:p>
        </p:txBody>
      </p:sp>
      <p:sp>
        <p:nvSpPr>
          <p:cNvPr id="4" name="Text 2"/>
          <p:cNvSpPr/>
          <p:nvPr/>
        </p:nvSpPr>
        <p:spPr>
          <a:xfrm>
            <a:off x="530352" y="466344"/>
            <a:ext cx="8778240" cy="164592"/>
          </a:xfrm>
          <a:prstGeom prst="rect">
            <a:avLst/>
          </a:prstGeom>
          <a:noFill/>
          <a:ln/>
        </p:spPr>
        <p:txBody>
          <a:bodyPr wrap="square" lIns="0" tIns="0" rIns="0" bIns="0" rtlCol="0" anchor="ctr"/>
          <a:lstStyle/>
          <a:p>
            <a:pPr indent="0" marL="0">
              <a:buNone/>
            </a:pPr>
            <a:r>
              <a:rPr lang="en-US" sz="950" dirty="0">
                <a:solidFill>
                  <a:srgbClr val="D8ECEF"/>
                </a:solidFill>
              </a:rPr>
              <a:t>The business has a dominant customer geography and several strong physical-store markets.</a:t>
            </a:r>
            <a:endParaRPr lang="en-US" sz="950" dirty="0"/>
          </a:p>
        </p:txBody>
      </p:sp>
      <p:graphicFrame>
        <p:nvGraphicFramePr>
          <p:cNvPr id="5" name="Chart 0" descr=""/>
          <p:cNvGraphicFramePr/>
          <p:nvPr/>
        </p:nvGraphicFramePr>
        <p:xfrm>
          <a:off x="566928" y="1124712"/>
          <a:ext cx="5349240" cy="4389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400800" y="1124712"/>
          <a:ext cx="5257800" cy="4389120"/>
        </p:xfrm>
        <a:graphic xmlns:a="http://schemas.openxmlformats.org/drawingml/2006/main">
          <a:graphicData uri="http://schemas.openxmlformats.org/drawingml/2006/chart">
            <c:chart xmlns:c="http://schemas.openxmlformats.org/drawingml/2006/chart" r:id="rId2"/>
          </a:graphicData>
        </a:graphic>
      </p:graphicFrame>
      <p:sp>
        <p:nvSpPr>
          <p:cNvPr id="7" name="Text 3"/>
          <p:cNvSpPr/>
          <p:nvPr/>
        </p:nvSpPr>
        <p:spPr>
          <a:xfrm>
            <a:off x="658368" y="877824"/>
            <a:ext cx="3474720" cy="201168"/>
          </a:xfrm>
          <a:prstGeom prst="rect">
            <a:avLst/>
          </a:prstGeom>
          <a:noFill/>
          <a:ln/>
        </p:spPr>
        <p:txBody>
          <a:bodyPr wrap="square" lIns="0" tIns="0" rIns="0" bIns="0" rtlCol="0" anchor="ctr"/>
          <a:lstStyle/>
          <a:p>
            <a:pPr indent="0" marL="0">
              <a:buNone/>
            </a:pPr>
            <a:r>
              <a:rPr lang="en-US" sz="1300" b="1" dirty="0">
                <a:solidFill>
                  <a:srgbClr val="0C3C44"/>
                </a:solidFill>
              </a:rPr>
              <a:t>Customer Country Revenue</a:t>
            </a:r>
            <a:endParaRPr lang="en-US" sz="1300" dirty="0"/>
          </a:p>
        </p:txBody>
      </p:sp>
      <p:sp>
        <p:nvSpPr>
          <p:cNvPr id="8" name="Text 4"/>
          <p:cNvSpPr/>
          <p:nvPr/>
        </p:nvSpPr>
        <p:spPr>
          <a:xfrm>
            <a:off x="6492240" y="877824"/>
            <a:ext cx="3474720" cy="201168"/>
          </a:xfrm>
          <a:prstGeom prst="rect">
            <a:avLst/>
          </a:prstGeom>
          <a:noFill/>
          <a:ln/>
        </p:spPr>
        <p:txBody>
          <a:bodyPr wrap="square" lIns="0" tIns="0" rIns="0" bIns="0" rtlCol="0" anchor="ctr"/>
          <a:lstStyle/>
          <a:p>
            <a:pPr indent="0" marL="0">
              <a:buNone/>
            </a:pPr>
            <a:r>
              <a:rPr lang="en-US" sz="1300" b="1" dirty="0">
                <a:solidFill>
                  <a:srgbClr val="0C3C44"/>
                </a:solidFill>
              </a:rPr>
              <a:t>Top 10 Physical Store States</a:t>
            </a:r>
            <a:endParaRPr lang="en-US" sz="1300" dirty="0"/>
          </a:p>
        </p:txBody>
      </p:sp>
      <p:sp>
        <p:nvSpPr>
          <p:cNvPr id="9" name="Shape 5"/>
          <p:cNvSpPr/>
          <p:nvPr/>
        </p:nvSpPr>
        <p:spPr>
          <a:xfrm>
            <a:off x="749808" y="5660136"/>
            <a:ext cx="4892040" cy="530352"/>
          </a:xfrm>
          <a:prstGeom prst="rect">
            <a:avLst/>
          </a:prstGeom>
          <a:solidFill>
            <a:srgbClr val="FFFFFF"/>
          </a:solidFill>
          <a:ln w="10160">
            <a:solidFill>
              <a:srgbClr val="DCE5E8"/>
            </a:solidFill>
            <a:prstDash val="solid"/>
          </a:ln>
        </p:spPr>
      </p:sp>
      <p:sp>
        <p:nvSpPr>
          <p:cNvPr id="10" name="Shape 6"/>
          <p:cNvSpPr/>
          <p:nvPr/>
        </p:nvSpPr>
        <p:spPr>
          <a:xfrm>
            <a:off x="749808" y="5660136"/>
            <a:ext cx="73152" cy="530352"/>
          </a:xfrm>
          <a:prstGeom prst="rect">
            <a:avLst/>
          </a:prstGeom>
          <a:solidFill>
            <a:srgbClr val="27561B"/>
          </a:solidFill>
          <a:ln w="12700">
            <a:solidFill>
              <a:srgbClr val="27561B"/>
            </a:solidFill>
            <a:prstDash val="solid"/>
          </a:ln>
        </p:spPr>
      </p:sp>
      <p:sp>
        <p:nvSpPr>
          <p:cNvPr id="11" name="Text 7"/>
          <p:cNvSpPr/>
          <p:nvPr/>
        </p:nvSpPr>
        <p:spPr>
          <a:xfrm>
            <a:off x="950976" y="5788152"/>
            <a:ext cx="4581144" cy="347472"/>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United States contributes $29.87M, roughly 54% of total revenue.</a:t>
            </a:r>
            <a:endParaRPr lang="en-US" sz="1120" dirty="0"/>
          </a:p>
        </p:txBody>
      </p:sp>
      <p:sp>
        <p:nvSpPr>
          <p:cNvPr id="12" name="Shape 8"/>
          <p:cNvSpPr/>
          <p:nvPr/>
        </p:nvSpPr>
        <p:spPr>
          <a:xfrm>
            <a:off x="6492240" y="5660136"/>
            <a:ext cx="4754880" cy="530352"/>
          </a:xfrm>
          <a:prstGeom prst="rect">
            <a:avLst/>
          </a:prstGeom>
          <a:solidFill>
            <a:srgbClr val="FFFFFF"/>
          </a:solidFill>
          <a:ln w="10160">
            <a:solidFill>
              <a:srgbClr val="DCE5E8"/>
            </a:solidFill>
            <a:prstDash val="solid"/>
          </a:ln>
        </p:spPr>
      </p:sp>
      <p:sp>
        <p:nvSpPr>
          <p:cNvPr id="13" name="Shape 9"/>
          <p:cNvSpPr/>
          <p:nvPr/>
        </p:nvSpPr>
        <p:spPr>
          <a:xfrm>
            <a:off x="6492240" y="5660136"/>
            <a:ext cx="73152" cy="530352"/>
          </a:xfrm>
          <a:prstGeom prst="rect">
            <a:avLst/>
          </a:prstGeom>
          <a:solidFill>
            <a:srgbClr val="397BDB"/>
          </a:solidFill>
          <a:ln w="12700">
            <a:solidFill>
              <a:srgbClr val="397BDB"/>
            </a:solidFill>
            <a:prstDash val="solid"/>
          </a:ln>
        </p:spPr>
      </p:sp>
      <p:sp>
        <p:nvSpPr>
          <p:cNvPr id="14" name="Text 10"/>
          <p:cNvSpPr/>
          <p:nvPr/>
        </p:nvSpPr>
        <p:spPr>
          <a:xfrm>
            <a:off x="6693408" y="5788152"/>
            <a:ext cx="4443984" cy="347472"/>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Nevada, Kansas and Nebraska are leading physical-store states.</a:t>
            </a:r>
            <a:endParaRPr lang="en-US" sz="1120" dirty="0"/>
          </a:p>
        </p:txBody>
      </p:sp>
      <p:sp>
        <p:nvSpPr>
          <p:cNvPr id="15" name="Text 11"/>
          <p:cNvSpPr/>
          <p:nvPr/>
        </p:nvSpPr>
        <p:spPr>
          <a:xfrm>
            <a:off x="11576304" y="6565392"/>
            <a:ext cx="228600" cy="137160"/>
          </a:xfrm>
          <a:prstGeom prst="rect">
            <a:avLst/>
          </a:prstGeom>
          <a:noFill/>
          <a:ln/>
        </p:spPr>
        <p:txBody>
          <a:bodyPr wrap="square" lIns="0" tIns="0" rIns="0" bIns="0" rtlCol="0" anchor="ctr"/>
          <a:lstStyle/>
          <a:p>
            <a:pPr indent="0" marL="0">
              <a:buNone/>
            </a:pPr>
            <a:r>
              <a:rPr lang="en-US" sz="700" b="1" dirty="0">
                <a:solidFill>
                  <a:srgbClr val="789197"/>
                </a:solidFill>
              </a:rPr>
              <a:t>06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C3C44"/>
          </a:solidFill>
          <a:ln w="12700">
            <a:solidFill>
              <a:srgbClr val="0C3C44"/>
            </a:solidFill>
            <a:prstDash val="solid"/>
          </a:ln>
        </p:spPr>
      </p:sp>
      <p:sp>
        <p:nvSpPr>
          <p:cNvPr id="3" name="Text 1"/>
          <p:cNvSpPr/>
          <p:nvPr/>
        </p:nvSpPr>
        <p:spPr>
          <a:xfrm>
            <a:off x="502920" y="155448"/>
            <a:ext cx="8961120" cy="292608"/>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Channel mix is store-led, but online operations improved</a:t>
            </a:r>
            <a:endParaRPr lang="en-US" sz="2200" dirty="0"/>
          </a:p>
        </p:txBody>
      </p:sp>
      <p:sp>
        <p:nvSpPr>
          <p:cNvPr id="4" name="Text 2"/>
          <p:cNvSpPr/>
          <p:nvPr/>
        </p:nvSpPr>
        <p:spPr>
          <a:xfrm>
            <a:off x="530352" y="466344"/>
            <a:ext cx="8778240" cy="164592"/>
          </a:xfrm>
          <a:prstGeom prst="rect">
            <a:avLst/>
          </a:prstGeom>
          <a:noFill/>
          <a:ln/>
        </p:spPr>
        <p:txBody>
          <a:bodyPr wrap="square" lIns="0" tIns="0" rIns="0" bIns="0" rtlCol="0" anchor="ctr"/>
          <a:lstStyle/>
          <a:p>
            <a:pPr indent="0" marL="0">
              <a:buNone/>
            </a:pPr>
            <a:r>
              <a:rPr lang="en-US" sz="950" dirty="0">
                <a:solidFill>
                  <a:srgbClr val="D8ECEF"/>
                </a:solidFill>
              </a:rPr>
              <a:t>Physical stores dominate revenue while delivery days improved meaningfully.</a:t>
            </a:r>
            <a:endParaRPr lang="en-US" sz="950" dirty="0"/>
          </a:p>
        </p:txBody>
      </p:sp>
      <p:graphicFrame>
        <p:nvGraphicFramePr>
          <p:cNvPr id="5" name="Chart 0" descr=""/>
          <p:cNvGraphicFramePr/>
          <p:nvPr/>
        </p:nvGraphicFramePr>
        <p:xfrm>
          <a:off x="731520" y="1298448"/>
          <a:ext cx="4251960" cy="4160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31520" y="896112"/>
            <a:ext cx="2926080" cy="219456"/>
          </a:xfrm>
          <a:prstGeom prst="rect">
            <a:avLst/>
          </a:prstGeom>
          <a:noFill/>
          <a:ln/>
        </p:spPr>
        <p:txBody>
          <a:bodyPr wrap="square" lIns="0" tIns="0" rIns="0" bIns="0" rtlCol="0" anchor="ctr"/>
          <a:lstStyle/>
          <a:p>
            <a:pPr indent="0" marL="0">
              <a:buNone/>
            </a:pPr>
            <a:r>
              <a:rPr lang="en-US" sz="1350" b="1" dirty="0">
                <a:solidFill>
                  <a:srgbClr val="0C3C44"/>
                </a:solidFill>
              </a:rPr>
              <a:t>Revenue by Sales Channel</a:t>
            </a:r>
            <a:endParaRPr lang="en-US" sz="1350" dirty="0"/>
          </a:p>
        </p:txBody>
      </p:sp>
      <p:graphicFrame>
        <p:nvGraphicFramePr>
          <p:cNvPr id="7" name="Chart 1" descr=""/>
          <p:cNvGraphicFramePr/>
          <p:nvPr/>
        </p:nvGraphicFramePr>
        <p:xfrm>
          <a:off x="5852160" y="1234440"/>
          <a:ext cx="5394960" cy="425196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897880" y="896112"/>
            <a:ext cx="3657600" cy="219456"/>
          </a:xfrm>
          <a:prstGeom prst="rect">
            <a:avLst/>
          </a:prstGeom>
          <a:noFill/>
          <a:ln/>
        </p:spPr>
        <p:txBody>
          <a:bodyPr wrap="square" lIns="0" tIns="0" rIns="0" bIns="0" rtlCol="0" anchor="ctr"/>
          <a:lstStyle/>
          <a:p>
            <a:pPr indent="0" marL="0">
              <a:buNone/>
            </a:pPr>
            <a:r>
              <a:rPr lang="en-US" sz="1350" b="1" dirty="0">
                <a:solidFill>
                  <a:srgbClr val="0C3C44"/>
                </a:solidFill>
              </a:rPr>
              <a:t>Average Online Delivery Days</a:t>
            </a:r>
            <a:endParaRPr lang="en-US" sz="1350" dirty="0"/>
          </a:p>
        </p:txBody>
      </p:sp>
      <p:sp>
        <p:nvSpPr>
          <p:cNvPr id="9" name="Shape 5"/>
          <p:cNvSpPr/>
          <p:nvPr/>
        </p:nvSpPr>
        <p:spPr>
          <a:xfrm>
            <a:off x="822960" y="5669280"/>
            <a:ext cx="3931920" cy="502920"/>
          </a:xfrm>
          <a:prstGeom prst="rect">
            <a:avLst/>
          </a:prstGeom>
          <a:solidFill>
            <a:srgbClr val="FFFFFF"/>
          </a:solidFill>
          <a:ln w="10160">
            <a:solidFill>
              <a:srgbClr val="DCE5E8"/>
            </a:solidFill>
            <a:prstDash val="solid"/>
          </a:ln>
        </p:spPr>
      </p:sp>
      <p:sp>
        <p:nvSpPr>
          <p:cNvPr id="10" name="Shape 6"/>
          <p:cNvSpPr/>
          <p:nvPr/>
        </p:nvSpPr>
        <p:spPr>
          <a:xfrm>
            <a:off x="822960" y="5669280"/>
            <a:ext cx="73152" cy="502920"/>
          </a:xfrm>
          <a:prstGeom prst="rect">
            <a:avLst/>
          </a:prstGeom>
          <a:solidFill>
            <a:srgbClr val="27561B"/>
          </a:solidFill>
          <a:ln w="12700">
            <a:solidFill>
              <a:srgbClr val="27561B"/>
            </a:solidFill>
            <a:prstDash val="solid"/>
          </a:ln>
        </p:spPr>
      </p:sp>
      <p:sp>
        <p:nvSpPr>
          <p:cNvPr id="11" name="Text 7"/>
          <p:cNvSpPr/>
          <p:nvPr/>
        </p:nvSpPr>
        <p:spPr>
          <a:xfrm>
            <a:off x="1024128" y="5797296"/>
            <a:ext cx="3621024" cy="320040"/>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Physical stores generate about 80% of revenue.</a:t>
            </a:r>
            <a:endParaRPr lang="en-US" sz="1120" dirty="0"/>
          </a:p>
        </p:txBody>
      </p:sp>
      <p:sp>
        <p:nvSpPr>
          <p:cNvPr id="12" name="Shape 8"/>
          <p:cNvSpPr/>
          <p:nvPr/>
        </p:nvSpPr>
        <p:spPr>
          <a:xfrm>
            <a:off x="5989320" y="5669280"/>
            <a:ext cx="4754880" cy="502920"/>
          </a:xfrm>
          <a:prstGeom prst="rect">
            <a:avLst/>
          </a:prstGeom>
          <a:solidFill>
            <a:srgbClr val="FFFFFF"/>
          </a:solidFill>
          <a:ln w="10160">
            <a:solidFill>
              <a:srgbClr val="DCE5E8"/>
            </a:solidFill>
            <a:prstDash val="solid"/>
          </a:ln>
        </p:spPr>
      </p:sp>
      <p:sp>
        <p:nvSpPr>
          <p:cNvPr id="13" name="Shape 9"/>
          <p:cNvSpPr/>
          <p:nvPr/>
        </p:nvSpPr>
        <p:spPr>
          <a:xfrm>
            <a:off x="5989320" y="5669280"/>
            <a:ext cx="73152" cy="502920"/>
          </a:xfrm>
          <a:prstGeom prst="rect">
            <a:avLst/>
          </a:prstGeom>
          <a:solidFill>
            <a:srgbClr val="397BDB"/>
          </a:solidFill>
          <a:ln w="12700">
            <a:solidFill>
              <a:srgbClr val="397BDB"/>
            </a:solidFill>
            <a:prstDash val="solid"/>
          </a:ln>
        </p:spPr>
      </p:sp>
      <p:sp>
        <p:nvSpPr>
          <p:cNvPr id="14" name="Text 10"/>
          <p:cNvSpPr/>
          <p:nvPr/>
        </p:nvSpPr>
        <p:spPr>
          <a:xfrm>
            <a:off x="6190488" y="5797296"/>
            <a:ext cx="4443984" cy="320040"/>
          </a:xfrm>
          <a:prstGeom prst="rect">
            <a:avLst/>
          </a:prstGeom>
          <a:noFill/>
          <a:ln/>
        </p:spPr>
        <p:txBody>
          <a:bodyPr wrap="square" lIns="254" tIns="254" rIns="254" bIns="254" rtlCol="0" anchor="ctr">
            <a:normAutofit/>
          </a:bodyPr>
          <a:lstStyle/>
          <a:p>
            <a:pPr indent="0" marL="0">
              <a:buNone/>
            </a:pPr>
            <a:r>
              <a:rPr lang="en-US" sz="1120" dirty="0">
                <a:solidFill>
                  <a:srgbClr val="182A2F"/>
                </a:solidFill>
              </a:rPr>
              <a:t>Average online delivery improved from 7.29 to 3.85 days.</a:t>
            </a:r>
            <a:endParaRPr lang="en-US" sz="1120" dirty="0"/>
          </a:p>
        </p:txBody>
      </p:sp>
      <p:sp>
        <p:nvSpPr>
          <p:cNvPr id="15" name="Text 11"/>
          <p:cNvSpPr/>
          <p:nvPr/>
        </p:nvSpPr>
        <p:spPr>
          <a:xfrm>
            <a:off x="11576304" y="6565392"/>
            <a:ext cx="228600" cy="137160"/>
          </a:xfrm>
          <a:prstGeom prst="rect">
            <a:avLst/>
          </a:prstGeom>
          <a:noFill/>
          <a:ln/>
        </p:spPr>
        <p:txBody>
          <a:bodyPr wrap="square" lIns="0" tIns="0" rIns="0" bIns="0" rtlCol="0" anchor="ctr"/>
          <a:lstStyle/>
          <a:p>
            <a:pPr indent="0" marL="0">
              <a:buNone/>
            </a:pPr>
            <a:r>
              <a:rPr lang="en-US" sz="700" b="1" dirty="0">
                <a:solidFill>
                  <a:srgbClr val="789197"/>
                </a:solidFill>
              </a:rPr>
              <a:t>07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C3C44"/>
          </a:solidFill>
          <a:ln w="12700">
            <a:solidFill>
              <a:srgbClr val="0C3C44"/>
            </a:solidFill>
            <a:prstDash val="solid"/>
          </a:ln>
        </p:spPr>
      </p:sp>
      <p:sp>
        <p:nvSpPr>
          <p:cNvPr id="3" name="Text 1"/>
          <p:cNvSpPr/>
          <p:nvPr/>
        </p:nvSpPr>
        <p:spPr>
          <a:xfrm>
            <a:off x="502920" y="155448"/>
            <a:ext cx="8961120" cy="292608"/>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Strategic priorities</a:t>
            </a:r>
            <a:endParaRPr lang="en-US" sz="2200" dirty="0"/>
          </a:p>
        </p:txBody>
      </p:sp>
      <p:sp>
        <p:nvSpPr>
          <p:cNvPr id="4" name="Text 2"/>
          <p:cNvSpPr/>
          <p:nvPr/>
        </p:nvSpPr>
        <p:spPr>
          <a:xfrm>
            <a:off x="530352" y="466344"/>
            <a:ext cx="8778240" cy="164592"/>
          </a:xfrm>
          <a:prstGeom prst="rect">
            <a:avLst/>
          </a:prstGeom>
          <a:noFill/>
          <a:ln/>
        </p:spPr>
        <p:txBody>
          <a:bodyPr wrap="square" lIns="0" tIns="0" rIns="0" bIns="0" rtlCol="0" anchor="ctr"/>
          <a:lstStyle/>
          <a:p>
            <a:pPr indent="0" marL="0">
              <a:buNone/>
            </a:pPr>
            <a:r>
              <a:rPr lang="en-US" sz="950" dirty="0">
                <a:solidFill>
                  <a:srgbClr val="D8ECEF"/>
                </a:solidFill>
              </a:rPr>
              <a:t>The recommendations target growth protection, concentration risk and operational scale.</a:t>
            </a:r>
            <a:endParaRPr lang="en-US" sz="950" dirty="0"/>
          </a:p>
        </p:txBody>
      </p:sp>
      <p:sp>
        <p:nvSpPr>
          <p:cNvPr id="5" name="Shape 3"/>
          <p:cNvSpPr/>
          <p:nvPr/>
        </p:nvSpPr>
        <p:spPr>
          <a:xfrm>
            <a:off x="640080" y="1051560"/>
            <a:ext cx="4800600" cy="1124712"/>
          </a:xfrm>
          <a:prstGeom prst="rect">
            <a:avLst/>
          </a:prstGeom>
          <a:solidFill>
            <a:srgbClr val="FFFFFF"/>
          </a:solidFill>
          <a:ln w="10160">
            <a:solidFill>
              <a:srgbClr val="DCE5E8"/>
            </a:solidFill>
            <a:prstDash val="solid"/>
          </a:ln>
        </p:spPr>
      </p:sp>
      <p:sp>
        <p:nvSpPr>
          <p:cNvPr id="6" name="Shape 4"/>
          <p:cNvSpPr/>
          <p:nvPr/>
        </p:nvSpPr>
        <p:spPr>
          <a:xfrm>
            <a:off x="868680" y="1280160"/>
            <a:ext cx="493776" cy="493776"/>
          </a:xfrm>
          <a:prstGeom prst="ellipse">
            <a:avLst/>
          </a:prstGeom>
          <a:solidFill>
            <a:srgbClr val="397BDB"/>
          </a:solidFill>
          <a:ln w="12700">
            <a:solidFill>
              <a:srgbClr val="397BDB"/>
            </a:solidFill>
            <a:prstDash val="solid"/>
          </a:ln>
        </p:spPr>
      </p:sp>
      <p:sp>
        <p:nvSpPr>
          <p:cNvPr id="7" name="Text 5"/>
          <p:cNvSpPr/>
          <p:nvPr/>
        </p:nvSpPr>
        <p:spPr>
          <a:xfrm>
            <a:off x="1005840" y="1408176"/>
            <a:ext cx="228600" cy="16459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8" name="Text 6"/>
          <p:cNvSpPr/>
          <p:nvPr/>
        </p:nvSpPr>
        <p:spPr>
          <a:xfrm>
            <a:off x="1536192" y="1252728"/>
            <a:ext cx="3566160" cy="201168"/>
          </a:xfrm>
          <a:prstGeom prst="rect">
            <a:avLst/>
          </a:prstGeom>
          <a:noFill/>
          <a:ln/>
        </p:spPr>
        <p:txBody>
          <a:bodyPr wrap="square" lIns="0" tIns="0" rIns="0" bIns="0" rtlCol="0" anchor="ctr"/>
          <a:lstStyle/>
          <a:p>
            <a:pPr indent="0" marL="0">
              <a:buNone/>
            </a:pPr>
            <a:r>
              <a:rPr lang="en-US" sz="1320" b="1" dirty="0">
                <a:solidFill>
                  <a:srgbClr val="182A2F"/>
                </a:solidFill>
              </a:rPr>
              <a:t>Protect Computers</a:t>
            </a:r>
            <a:endParaRPr lang="en-US" sz="1320" dirty="0"/>
          </a:p>
        </p:txBody>
      </p:sp>
      <p:sp>
        <p:nvSpPr>
          <p:cNvPr id="9" name="Text 7"/>
          <p:cNvSpPr/>
          <p:nvPr/>
        </p:nvSpPr>
        <p:spPr>
          <a:xfrm>
            <a:off x="1536192" y="1554480"/>
            <a:ext cx="3520440" cy="402336"/>
          </a:xfrm>
          <a:prstGeom prst="rect">
            <a:avLst/>
          </a:prstGeom>
          <a:noFill/>
          <a:ln/>
        </p:spPr>
        <p:txBody>
          <a:bodyPr wrap="square" lIns="0" tIns="0" rIns="0" bIns="0" rtlCol="0" anchor="ctr">
            <a:normAutofit/>
          </a:bodyPr>
          <a:lstStyle/>
          <a:p>
            <a:pPr indent="0" marL="0">
              <a:buNone/>
            </a:pPr>
            <a:r>
              <a:rPr lang="en-US" sz="970" dirty="0">
                <a:solidFill>
                  <a:srgbClr val="5A6A70"/>
                </a:solidFill>
              </a:rPr>
              <a:t>Keep availability high, maintain pricing discipline and use cross-sell opportunities around the strongest category.</a:t>
            </a:r>
            <a:endParaRPr lang="en-US" sz="970" dirty="0"/>
          </a:p>
        </p:txBody>
      </p:sp>
      <p:sp>
        <p:nvSpPr>
          <p:cNvPr id="10" name="Shape 8"/>
          <p:cNvSpPr/>
          <p:nvPr/>
        </p:nvSpPr>
        <p:spPr>
          <a:xfrm>
            <a:off x="6217920" y="1051560"/>
            <a:ext cx="4800600" cy="1124712"/>
          </a:xfrm>
          <a:prstGeom prst="rect">
            <a:avLst/>
          </a:prstGeom>
          <a:solidFill>
            <a:srgbClr val="FFFFFF"/>
          </a:solidFill>
          <a:ln w="10160">
            <a:solidFill>
              <a:srgbClr val="DCE5E8"/>
            </a:solidFill>
            <a:prstDash val="solid"/>
          </a:ln>
        </p:spPr>
      </p:sp>
      <p:sp>
        <p:nvSpPr>
          <p:cNvPr id="11" name="Shape 9"/>
          <p:cNvSpPr/>
          <p:nvPr/>
        </p:nvSpPr>
        <p:spPr>
          <a:xfrm>
            <a:off x="6446520" y="1280160"/>
            <a:ext cx="493776" cy="493776"/>
          </a:xfrm>
          <a:prstGeom prst="ellipse">
            <a:avLst/>
          </a:prstGeom>
          <a:solidFill>
            <a:srgbClr val="27561B"/>
          </a:solidFill>
          <a:ln w="12700">
            <a:solidFill>
              <a:srgbClr val="27561B"/>
            </a:solidFill>
            <a:prstDash val="solid"/>
          </a:ln>
        </p:spPr>
      </p:sp>
      <p:sp>
        <p:nvSpPr>
          <p:cNvPr id="12" name="Text 10"/>
          <p:cNvSpPr/>
          <p:nvPr/>
        </p:nvSpPr>
        <p:spPr>
          <a:xfrm>
            <a:off x="6583680" y="1408176"/>
            <a:ext cx="228600" cy="16459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3" name="Text 11"/>
          <p:cNvSpPr/>
          <p:nvPr/>
        </p:nvSpPr>
        <p:spPr>
          <a:xfrm>
            <a:off x="7114032" y="1252728"/>
            <a:ext cx="3566160" cy="201168"/>
          </a:xfrm>
          <a:prstGeom prst="rect">
            <a:avLst/>
          </a:prstGeom>
          <a:noFill/>
          <a:ln/>
        </p:spPr>
        <p:txBody>
          <a:bodyPr wrap="square" lIns="0" tIns="0" rIns="0" bIns="0" rtlCol="0" anchor="ctr"/>
          <a:lstStyle/>
          <a:p>
            <a:pPr indent="0" marL="0">
              <a:buNone/>
            </a:pPr>
            <a:r>
              <a:rPr lang="en-US" sz="1320" b="1" dirty="0">
                <a:solidFill>
                  <a:srgbClr val="182A2F"/>
                </a:solidFill>
              </a:rPr>
              <a:t>Reduce U.S. concentration</a:t>
            </a:r>
            <a:endParaRPr lang="en-US" sz="1320" dirty="0"/>
          </a:p>
        </p:txBody>
      </p:sp>
      <p:sp>
        <p:nvSpPr>
          <p:cNvPr id="14" name="Text 12"/>
          <p:cNvSpPr/>
          <p:nvPr/>
        </p:nvSpPr>
        <p:spPr>
          <a:xfrm>
            <a:off x="7114032" y="1554480"/>
            <a:ext cx="3520440" cy="402336"/>
          </a:xfrm>
          <a:prstGeom prst="rect">
            <a:avLst/>
          </a:prstGeom>
          <a:noFill/>
          <a:ln/>
        </p:spPr>
        <p:txBody>
          <a:bodyPr wrap="square" lIns="0" tIns="0" rIns="0" bIns="0" rtlCol="0" anchor="ctr">
            <a:normAutofit/>
          </a:bodyPr>
          <a:lstStyle/>
          <a:p>
            <a:pPr indent="0" marL="0">
              <a:buNone/>
            </a:pPr>
            <a:r>
              <a:rPr lang="en-US" sz="970" dirty="0">
                <a:solidFill>
                  <a:srgbClr val="5A6A70"/>
                </a:solidFill>
              </a:rPr>
              <a:t>Expand in the United Kingdom, Germany, Canada and other proven international markets.</a:t>
            </a:r>
            <a:endParaRPr lang="en-US" sz="970" dirty="0"/>
          </a:p>
        </p:txBody>
      </p:sp>
      <p:sp>
        <p:nvSpPr>
          <p:cNvPr id="15" name="Shape 13"/>
          <p:cNvSpPr/>
          <p:nvPr/>
        </p:nvSpPr>
        <p:spPr>
          <a:xfrm>
            <a:off x="640080" y="2624328"/>
            <a:ext cx="4800600" cy="1124712"/>
          </a:xfrm>
          <a:prstGeom prst="rect">
            <a:avLst/>
          </a:prstGeom>
          <a:solidFill>
            <a:srgbClr val="FFFFFF"/>
          </a:solidFill>
          <a:ln w="10160">
            <a:solidFill>
              <a:srgbClr val="DCE5E8"/>
            </a:solidFill>
            <a:prstDash val="solid"/>
          </a:ln>
        </p:spPr>
      </p:sp>
      <p:sp>
        <p:nvSpPr>
          <p:cNvPr id="16" name="Shape 14"/>
          <p:cNvSpPr/>
          <p:nvPr/>
        </p:nvSpPr>
        <p:spPr>
          <a:xfrm>
            <a:off x="868680" y="2852928"/>
            <a:ext cx="493776" cy="493776"/>
          </a:xfrm>
          <a:prstGeom prst="ellipse">
            <a:avLst/>
          </a:prstGeom>
          <a:solidFill>
            <a:srgbClr val="155A63"/>
          </a:solidFill>
          <a:ln w="12700">
            <a:solidFill>
              <a:srgbClr val="155A63"/>
            </a:solidFill>
            <a:prstDash val="solid"/>
          </a:ln>
        </p:spPr>
      </p:sp>
      <p:sp>
        <p:nvSpPr>
          <p:cNvPr id="17" name="Text 15"/>
          <p:cNvSpPr/>
          <p:nvPr/>
        </p:nvSpPr>
        <p:spPr>
          <a:xfrm>
            <a:off x="1005840" y="2980944"/>
            <a:ext cx="228600" cy="16459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8" name="Text 16"/>
          <p:cNvSpPr/>
          <p:nvPr/>
        </p:nvSpPr>
        <p:spPr>
          <a:xfrm>
            <a:off x="1536192" y="2825496"/>
            <a:ext cx="3566160" cy="201168"/>
          </a:xfrm>
          <a:prstGeom prst="rect">
            <a:avLst/>
          </a:prstGeom>
          <a:noFill/>
          <a:ln/>
        </p:spPr>
        <p:txBody>
          <a:bodyPr wrap="square" lIns="0" tIns="0" rIns="0" bIns="0" rtlCol="0" anchor="ctr"/>
          <a:lstStyle/>
          <a:p>
            <a:pPr indent="0" marL="0">
              <a:buNone/>
            </a:pPr>
            <a:r>
              <a:rPr lang="en-US" sz="1320" b="1" dirty="0">
                <a:solidFill>
                  <a:srgbClr val="182A2F"/>
                </a:solidFill>
              </a:rPr>
              <a:t>Grow online strategically</a:t>
            </a:r>
            <a:endParaRPr lang="en-US" sz="1320" dirty="0"/>
          </a:p>
        </p:txBody>
      </p:sp>
      <p:sp>
        <p:nvSpPr>
          <p:cNvPr id="19" name="Text 17"/>
          <p:cNvSpPr/>
          <p:nvPr/>
        </p:nvSpPr>
        <p:spPr>
          <a:xfrm>
            <a:off x="1536192" y="3127248"/>
            <a:ext cx="3520440" cy="402336"/>
          </a:xfrm>
          <a:prstGeom prst="rect">
            <a:avLst/>
          </a:prstGeom>
          <a:noFill/>
          <a:ln/>
        </p:spPr>
        <p:txBody>
          <a:bodyPr wrap="square" lIns="0" tIns="0" rIns="0" bIns="0" rtlCol="0" anchor="ctr">
            <a:normAutofit/>
          </a:bodyPr>
          <a:lstStyle/>
          <a:p>
            <a:pPr indent="0" marL="0">
              <a:buNone/>
            </a:pPr>
            <a:r>
              <a:rPr lang="en-US" sz="970" dirty="0">
                <a:solidFill>
                  <a:srgbClr val="5A6A70"/>
                </a:solidFill>
              </a:rPr>
              <a:t>Leverage better delivery performance to support digital growth and reduce dependence on physical stores.</a:t>
            </a:r>
            <a:endParaRPr lang="en-US" sz="970" dirty="0"/>
          </a:p>
        </p:txBody>
      </p:sp>
      <p:sp>
        <p:nvSpPr>
          <p:cNvPr id="20" name="Shape 18"/>
          <p:cNvSpPr/>
          <p:nvPr/>
        </p:nvSpPr>
        <p:spPr>
          <a:xfrm>
            <a:off x="6217920" y="2624328"/>
            <a:ext cx="4800600" cy="1124712"/>
          </a:xfrm>
          <a:prstGeom prst="rect">
            <a:avLst/>
          </a:prstGeom>
          <a:solidFill>
            <a:srgbClr val="FFFFFF"/>
          </a:solidFill>
          <a:ln w="10160">
            <a:solidFill>
              <a:srgbClr val="DCE5E8"/>
            </a:solidFill>
            <a:prstDash val="solid"/>
          </a:ln>
        </p:spPr>
      </p:sp>
      <p:sp>
        <p:nvSpPr>
          <p:cNvPr id="21" name="Shape 19"/>
          <p:cNvSpPr/>
          <p:nvPr/>
        </p:nvSpPr>
        <p:spPr>
          <a:xfrm>
            <a:off x="6446520" y="2852928"/>
            <a:ext cx="493776" cy="493776"/>
          </a:xfrm>
          <a:prstGeom prst="ellipse">
            <a:avLst/>
          </a:prstGeom>
          <a:solidFill>
            <a:srgbClr val="E8473F"/>
          </a:solidFill>
          <a:ln w="12700">
            <a:solidFill>
              <a:srgbClr val="E8473F"/>
            </a:solidFill>
            <a:prstDash val="solid"/>
          </a:ln>
        </p:spPr>
      </p:sp>
      <p:sp>
        <p:nvSpPr>
          <p:cNvPr id="22" name="Text 20"/>
          <p:cNvSpPr/>
          <p:nvPr/>
        </p:nvSpPr>
        <p:spPr>
          <a:xfrm>
            <a:off x="6583680" y="2980944"/>
            <a:ext cx="228600" cy="164592"/>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3" name="Text 21"/>
          <p:cNvSpPr/>
          <p:nvPr/>
        </p:nvSpPr>
        <p:spPr>
          <a:xfrm>
            <a:off x="7114032" y="2825496"/>
            <a:ext cx="3566160" cy="201168"/>
          </a:xfrm>
          <a:prstGeom prst="rect">
            <a:avLst/>
          </a:prstGeom>
          <a:noFill/>
          <a:ln/>
        </p:spPr>
        <p:txBody>
          <a:bodyPr wrap="square" lIns="0" tIns="0" rIns="0" bIns="0" rtlCol="0" anchor="ctr"/>
          <a:lstStyle/>
          <a:p>
            <a:pPr indent="0" marL="0">
              <a:buNone/>
            </a:pPr>
            <a:r>
              <a:rPr lang="en-US" sz="1320" b="1" dirty="0">
                <a:solidFill>
                  <a:srgbClr val="182A2F"/>
                </a:solidFill>
              </a:rPr>
              <a:t>Investigate 2020 decline</a:t>
            </a:r>
            <a:endParaRPr lang="en-US" sz="1320" dirty="0"/>
          </a:p>
        </p:txBody>
      </p:sp>
      <p:sp>
        <p:nvSpPr>
          <p:cNvPr id="24" name="Text 22"/>
          <p:cNvSpPr/>
          <p:nvPr/>
        </p:nvSpPr>
        <p:spPr>
          <a:xfrm>
            <a:off x="7114032" y="3127248"/>
            <a:ext cx="3520440" cy="402336"/>
          </a:xfrm>
          <a:prstGeom prst="rect">
            <a:avLst/>
          </a:prstGeom>
          <a:noFill/>
          <a:ln/>
        </p:spPr>
        <p:txBody>
          <a:bodyPr wrap="square" lIns="0" tIns="0" rIns="0" bIns="0" rtlCol="0" anchor="ctr">
            <a:normAutofit/>
          </a:bodyPr>
          <a:lstStyle/>
          <a:p>
            <a:pPr indent="0" marL="0">
              <a:buNone/>
            </a:pPr>
            <a:r>
              <a:rPr lang="en-US" sz="970" dirty="0">
                <a:solidFill>
                  <a:srgbClr val="5A6A70"/>
                </a:solidFill>
              </a:rPr>
              <a:t>Analyze demand, product mix, stores, geography and channel behavior to identify the drivers of the drop.</a:t>
            </a:r>
            <a:endParaRPr lang="en-US" sz="970" dirty="0"/>
          </a:p>
        </p:txBody>
      </p:sp>
      <p:sp>
        <p:nvSpPr>
          <p:cNvPr id="25" name="Shape 23"/>
          <p:cNvSpPr/>
          <p:nvPr/>
        </p:nvSpPr>
        <p:spPr>
          <a:xfrm>
            <a:off x="640080" y="4197096"/>
            <a:ext cx="4800600" cy="1124712"/>
          </a:xfrm>
          <a:prstGeom prst="rect">
            <a:avLst/>
          </a:prstGeom>
          <a:solidFill>
            <a:srgbClr val="FFFFFF"/>
          </a:solidFill>
          <a:ln w="10160">
            <a:solidFill>
              <a:srgbClr val="DCE5E8"/>
            </a:solidFill>
            <a:prstDash val="solid"/>
          </a:ln>
        </p:spPr>
      </p:sp>
      <p:sp>
        <p:nvSpPr>
          <p:cNvPr id="26" name="Shape 24"/>
          <p:cNvSpPr/>
          <p:nvPr/>
        </p:nvSpPr>
        <p:spPr>
          <a:xfrm>
            <a:off x="868680" y="4425696"/>
            <a:ext cx="493776" cy="493776"/>
          </a:xfrm>
          <a:prstGeom prst="ellipse">
            <a:avLst/>
          </a:prstGeom>
          <a:solidFill>
            <a:srgbClr val="F5C452"/>
          </a:solidFill>
          <a:ln w="12700">
            <a:solidFill>
              <a:srgbClr val="F5C452"/>
            </a:solidFill>
            <a:prstDash val="solid"/>
          </a:ln>
        </p:spPr>
      </p:sp>
      <p:sp>
        <p:nvSpPr>
          <p:cNvPr id="27" name="Text 25"/>
          <p:cNvSpPr/>
          <p:nvPr/>
        </p:nvSpPr>
        <p:spPr>
          <a:xfrm>
            <a:off x="1005840" y="4553712"/>
            <a:ext cx="228600" cy="164592"/>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8" name="Text 26"/>
          <p:cNvSpPr/>
          <p:nvPr/>
        </p:nvSpPr>
        <p:spPr>
          <a:xfrm>
            <a:off x="1536192" y="4398264"/>
            <a:ext cx="3566160" cy="201168"/>
          </a:xfrm>
          <a:prstGeom prst="rect">
            <a:avLst/>
          </a:prstGeom>
          <a:noFill/>
          <a:ln/>
        </p:spPr>
        <p:txBody>
          <a:bodyPr wrap="square" lIns="0" tIns="0" rIns="0" bIns="0" rtlCol="0" anchor="ctr"/>
          <a:lstStyle/>
          <a:p>
            <a:pPr indent="0" marL="0">
              <a:buNone/>
            </a:pPr>
            <a:r>
              <a:rPr lang="en-US" sz="1320" b="1" dirty="0">
                <a:solidFill>
                  <a:srgbClr val="182A2F"/>
                </a:solidFill>
              </a:rPr>
              <a:t>Plan around seasonality</a:t>
            </a:r>
            <a:endParaRPr lang="en-US" sz="1320" dirty="0"/>
          </a:p>
        </p:txBody>
      </p:sp>
      <p:sp>
        <p:nvSpPr>
          <p:cNvPr id="29" name="Text 27"/>
          <p:cNvSpPr/>
          <p:nvPr/>
        </p:nvSpPr>
        <p:spPr>
          <a:xfrm>
            <a:off x="1536192" y="4700016"/>
            <a:ext cx="3520440" cy="402336"/>
          </a:xfrm>
          <a:prstGeom prst="rect">
            <a:avLst/>
          </a:prstGeom>
          <a:noFill/>
          <a:ln/>
        </p:spPr>
        <p:txBody>
          <a:bodyPr wrap="square" lIns="0" tIns="0" rIns="0" bIns="0" rtlCol="0" anchor="ctr">
            <a:normAutofit/>
          </a:bodyPr>
          <a:lstStyle/>
          <a:p>
            <a:pPr indent="0" marL="0">
              <a:buNone/>
            </a:pPr>
            <a:r>
              <a:rPr lang="en-US" sz="970" dirty="0">
                <a:solidFill>
                  <a:srgbClr val="5A6A70"/>
                </a:solidFill>
              </a:rPr>
              <a:t>Align inventory, staffing and campaigns with recurring monthly demand patterns.</a:t>
            </a:r>
            <a:endParaRPr lang="en-US" sz="970" dirty="0"/>
          </a:p>
        </p:txBody>
      </p:sp>
      <p:sp>
        <p:nvSpPr>
          <p:cNvPr id="30" name="Shape 28"/>
          <p:cNvSpPr/>
          <p:nvPr/>
        </p:nvSpPr>
        <p:spPr>
          <a:xfrm>
            <a:off x="6217920" y="4197096"/>
            <a:ext cx="4800600" cy="1124712"/>
          </a:xfrm>
          <a:prstGeom prst="rect">
            <a:avLst/>
          </a:prstGeom>
          <a:solidFill>
            <a:srgbClr val="FFFFFF"/>
          </a:solidFill>
          <a:ln w="10160">
            <a:solidFill>
              <a:srgbClr val="DCE5E8"/>
            </a:solidFill>
            <a:prstDash val="solid"/>
          </a:ln>
        </p:spPr>
      </p:sp>
      <p:sp>
        <p:nvSpPr>
          <p:cNvPr id="31" name="Shape 29"/>
          <p:cNvSpPr/>
          <p:nvPr/>
        </p:nvSpPr>
        <p:spPr>
          <a:xfrm>
            <a:off x="6446520" y="4425696"/>
            <a:ext cx="493776" cy="493776"/>
          </a:xfrm>
          <a:prstGeom prst="ellipse">
            <a:avLst/>
          </a:prstGeom>
          <a:solidFill>
            <a:srgbClr val="6F4E7C"/>
          </a:solidFill>
          <a:ln w="12700">
            <a:solidFill>
              <a:srgbClr val="6F4E7C"/>
            </a:solidFill>
            <a:prstDash val="solid"/>
          </a:ln>
        </p:spPr>
      </p:sp>
      <p:sp>
        <p:nvSpPr>
          <p:cNvPr id="32" name="Text 30"/>
          <p:cNvSpPr/>
          <p:nvPr/>
        </p:nvSpPr>
        <p:spPr>
          <a:xfrm>
            <a:off x="6583680" y="4553712"/>
            <a:ext cx="228600" cy="164592"/>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3" name="Text 31"/>
          <p:cNvSpPr/>
          <p:nvPr/>
        </p:nvSpPr>
        <p:spPr>
          <a:xfrm>
            <a:off x="7114032" y="4398264"/>
            <a:ext cx="3566160" cy="201168"/>
          </a:xfrm>
          <a:prstGeom prst="rect">
            <a:avLst/>
          </a:prstGeom>
          <a:noFill/>
          <a:ln/>
        </p:spPr>
        <p:txBody>
          <a:bodyPr wrap="square" lIns="0" tIns="0" rIns="0" bIns="0" rtlCol="0" anchor="ctr"/>
          <a:lstStyle/>
          <a:p>
            <a:pPr indent="0" marL="0">
              <a:buNone/>
            </a:pPr>
            <a:r>
              <a:rPr lang="en-US" sz="1320" b="1" dirty="0">
                <a:solidFill>
                  <a:srgbClr val="182A2F"/>
                </a:solidFill>
              </a:rPr>
              <a:t>Benchmark top locations</a:t>
            </a:r>
            <a:endParaRPr lang="en-US" sz="1320" dirty="0"/>
          </a:p>
        </p:txBody>
      </p:sp>
      <p:sp>
        <p:nvSpPr>
          <p:cNvPr id="34" name="Text 32"/>
          <p:cNvSpPr/>
          <p:nvPr/>
        </p:nvSpPr>
        <p:spPr>
          <a:xfrm>
            <a:off x="7114032" y="4700016"/>
            <a:ext cx="3520440" cy="402336"/>
          </a:xfrm>
          <a:prstGeom prst="rect">
            <a:avLst/>
          </a:prstGeom>
          <a:noFill/>
          <a:ln/>
        </p:spPr>
        <p:txBody>
          <a:bodyPr wrap="square" lIns="0" tIns="0" rIns="0" bIns="0" rtlCol="0" anchor="ctr">
            <a:normAutofit/>
          </a:bodyPr>
          <a:lstStyle/>
          <a:p>
            <a:pPr indent="0" marL="0">
              <a:buNone/>
            </a:pPr>
            <a:r>
              <a:rPr lang="en-US" sz="970" dirty="0">
                <a:solidFill>
                  <a:srgbClr val="5A6A70"/>
                </a:solidFill>
              </a:rPr>
              <a:t>Study Nevada, Kansas and Nebraska to transfer effective store practices to weaker markets.</a:t>
            </a:r>
            <a:endParaRPr lang="en-US" sz="970" dirty="0"/>
          </a:p>
        </p:txBody>
      </p:sp>
      <p:sp>
        <p:nvSpPr>
          <p:cNvPr id="35" name="Text 33"/>
          <p:cNvSpPr/>
          <p:nvPr/>
        </p:nvSpPr>
        <p:spPr>
          <a:xfrm>
            <a:off x="11576304" y="6565392"/>
            <a:ext cx="228600" cy="137160"/>
          </a:xfrm>
          <a:prstGeom prst="rect">
            <a:avLst/>
          </a:prstGeom>
          <a:noFill/>
          <a:ln/>
        </p:spPr>
        <p:txBody>
          <a:bodyPr wrap="square" lIns="0" tIns="0" rIns="0" bIns="0" rtlCol="0" anchor="ctr"/>
          <a:lstStyle/>
          <a:p>
            <a:pPr indent="0" marL="0">
              <a:buNone/>
            </a:pPr>
            <a:r>
              <a:rPr lang="en-US" sz="700" b="1" dirty="0">
                <a:solidFill>
                  <a:srgbClr val="789197"/>
                </a:solidFill>
              </a:rPr>
              <a:t>08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prstGeom>
          <a:solidFill>
            <a:srgbClr val="0C3C44"/>
          </a:solidFill>
          <a:ln w="12700">
            <a:solidFill>
              <a:srgbClr val="0C3C44"/>
            </a:solidFill>
            <a:prstDash val="solid"/>
          </a:ln>
        </p:spPr>
      </p:sp>
      <p:sp>
        <p:nvSpPr>
          <p:cNvPr id="3" name="Text 1"/>
          <p:cNvSpPr/>
          <p:nvPr/>
        </p:nvSpPr>
        <p:spPr>
          <a:xfrm>
            <a:off x="502920" y="155448"/>
            <a:ext cx="8961120" cy="292608"/>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Portfolio value</a:t>
            </a:r>
            <a:endParaRPr lang="en-US" sz="2200" dirty="0"/>
          </a:p>
        </p:txBody>
      </p:sp>
      <p:sp>
        <p:nvSpPr>
          <p:cNvPr id="4" name="Text 2"/>
          <p:cNvSpPr/>
          <p:nvPr/>
        </p:nvSpPr>
        <p:spPr>
          <a:xfrm>
            <a:off x="530352" y="466344"/>
            <a:ext cx="8778240" cy="164592"/>
          </a:xfrm>
          <a:prstGeom prst="rect">
            <a:avLst/>
          </a:prstGeom>
          <a:noFill/>
          <a:ln/>
        </p:spPr>
        <p:txBody>
          <a:bodyPr wrap="square" lIns="0" tIns="0" rIns="0" bIns="0" rtlCol="0" anchor="ctr"/>
          <a:lstStyle/>
          <a:p>
            <a:pPr indent="0" marL="0">
              <a:buNone/>
            </a:pPr>
            <a:r>
              <a:rPr lang="en-US" sz="950" dirty="0">
                <a:solidFill>
                  <a:srgbClr val="D8ECEF"/>
                </a:solidFill>
              </a:rPr>
              <a:t>This project demonstrates the complete analytics lifecycle from raw data to management recommendation.</a:t>
            </a:r>
            <a:endParaRPr lang="en-US" sz="950" dirty="0"/>
          </a:p>
        </p:txBody>
      </p:sp>
      <p:sp>
        <p:nvSpPr>
          <p:cNvPr id="5" name="Shape 3"/>
          <p:cNvSpPr/>
          <p:nvPr/>
        </p:nvSpPr>
        <p:spPr>
          <a:xfrm>
            <a:off x="685800" y="1188720"/>
            <a:ext cx="4754880" cy="4526280"/>
          </a:xfrm>
          <a:prstGeom prst="rect">
            <a:avLst/>
          </a:prstGeom>
          <a:solidFill>
            <a:srgbClr val="FFFFFF"/>
          </a:solidFill>
          <a:ln w="12700">
            <a:solidFill>
              <a:srgbClr val="DCE5E8"/>
            </a:solidFill>
            <a:prstDash val="solid"/>
          </a:ln>
        </p:spPr>
      </p:sp>
      <p:sp>
        <p:nvSpPr>
          <p:cNvPr id="6" name="Text 4"/>
          <p:cNvSpPr/>
          <p:nvPr/>
        </p:nvSpPr>
        <p:spPr>
          <a:xfrm>
            <a:off x="960120" y="1572768"/>
            <a:ext cx="3474720" cy="237744"/>
          </a:xfrm>
          <a:prstGeom prst="rect">
            <a:avLst/>
          </a:prstGeom>
          <a:noFill/>
          <a:ln/>
        </p:spPr>
        <p:txBody>
          <a:bodyPr wrap="square" lIns="0" tIns="0" rIns="0" bIns="0" rtlCol="0" anchor="ctr"/>
          <a:lstStyle/>
          <a:p>
            <a:pPr indent="0" marL="0">
              <a:buNone/>
            </a:pPr>
            <a:r>
              <a:rPr lang="en-US" sz="1700" b="1" dirty="0">
                <a:solidFill>
                  <a:srgbClr val="0C3C44"/>
                </a:solidFill>
              </a:rPr>
              <a:t>What the project proves</a:t>
            </a:r>
            <a:endParaRPr lang="en-US" sz="1700" dirty="0"/>
          </a:p>
        </p:txBody>
      </p:sp>
      <p:sp>
        <p:nvSpPr>
          <p:cNvPr id="7" name="Text 5"/>
          <p:cNvSpPr/>
          <p:nvPr/>
        </p:nvSpPr>
        <p:spPr>
          <a:xfrm>
            <a:off x="1024128" y="2029968"/>
            <a:ext cx="4023360" cy="2377440"/>
          </a:xfrm>
          <a:prstGeom prst="rect">
            <a:avLst/>
          </a:prstGeom>
          <a:noFill/>
          <a:ln/>
        </p:spPr>
        <p:txBody>
          <a:bodyPr wrap="square" lIns="254" tIns="254" rIns="254" bIns="254" rtlCol="0" anchor="ctr">
            <a:normAutofit/>
          </a:bodyPr>
          <a:lstStyle/>
          <a:p>
            <a:r>
              <a:rPr lang="en-US" sz="1350" dirty="0">
                <a:solidFill>
                  <a:srgbClr val="182A2F"/>
                </a:solidFill>
              </a:rPr>
              <a:t>• Cleaned multi-table data</a:t>
            </a:r>
            <a:endParaRPr lang="en-US" sz="1350" dirty="0"/>
          </a:p>
          <a:p>
            <a:r>
              <a:rPr lang="en-US" sz="1350" dirty="0">
                <a:solidFill>
                  <a:srgbClr val="182A2F"/>
                </a:solidFill>
              </a:rPr>
              <a:t>• Built a central analytical model</a:t>
            </a:r>
            <a:endParaRPr lang="en-US" sz="1350" dirty="0"/>
          </a:p>
          <a:p>
            <a:r>
              <a:rPr lang="en-US" sz="1350" dirty="0">
                <a:solidFill>
                  <a:srgbClr val="182A2F"/>
                </a:solidFill>
              </a:rPr>
              <a:t>• Created formula-driven KPIs</a:t>
            </a:r>
            <a:endParaRPr lang="en-US" sz="1350" dirty="0"/>
          </a:p>
          <a:p>
            <a:r>
              <a:rPr lang="en-US" sz="1350" dirty="0">
                <a:solidFill>
                  <a:srgbClr val="182A2F"/>
                </a:solidFill>
              </a:rPr>
              <a:t>• Produced pivot analysis and chart library</a:t>
            </a:r>
            <a:endParaRPr lang="en-US" sz="1350" dirty="0"/>
          </a:p>
          <a:p>
            <a:r>
              <a:rPr lang="en-US" sz="1350" dirty="0">
                <a:solidFill>
                  <a:srgbClr val="182A2F"/>
                </a:solidFill>
              </a:rPr>
              <a:t>• Designed an executive dashboard</a:t>
            </a:r>
            <a:endParaRPr lang="en-US" sz="1350" dirty="0"/>
          </a:p>
          <a:p>
            <a:r>
              <a:rPr lang="en-US" sz="1350" dirty="0">
                <a:solidFill>
                  <a:srgbClr val="182A2F"/>
                </a:solidFill>
              </a:rPr>
              <a:t>• Wrote conclusions and recommendations</a:t>
            </a:r>
            <a:endParaRPr lang="en-US" sz="1350" dirty="0"/>
          </a:p>
        </p:txBody>
      </p:sp>
      <p:sp>
        <p:nvSpPr>
          <p:cNvPr id="8" name="Shape 6"/>
          <p:cNvSpPr/>
          <p:nvPr/>
        </p:nvSpPr>
        <p:spPr>
          <a:xfrm>
            <a:off x="6309360" y="1188720"/>
            <a:ext cx="4983480" cy="4526280"/>
          </a:xfrm>
          <a:prstGeom prst="rect">
            <a:avLst/>
          </a:prstGeom>
          <a:solidFill>
            <a:srgbClr val="EAF2F4"/>
          </a:solidFill>
          <a:ln w="12700">
            <a:solidFill>
              <a:srgbClr val="D5E3E7"/>
            </a:solidFill>
            <a:prstDash val="solid"/>
          </a:ln>
        </p:spPr>
      </p:sp>
      <p:sp>
        <p:nvSpPr>
          <p:cNvPr id="9" name="Text 7"/>
          <p:cNvSpPr/>
          <p:nvPr/>
        </p:nvSpPr>
        <p:spPr>
          <a:xfrm>
            <a:off x="6583680" y="1572768"/>
            <a:ext cx="3474720" cy="237744"/>
          </a:xfrm>
          <a:prstGeom prst="rect">
            <a:avLst/>
          </a:prstGeom>
          <a:noFill/>
          <a:ln/>
        </p:spPr>
        <p:txBody>
          <a:bodyPr wrap="square" lIns="0" tIns="0" rIns="0" bIns="0" rtlCol="0" anchor="ctr"/>
          <a:lstStyle/>
          <a:p>
            <a:pPr indent="0" marL="0">
              <a:buNone/>
            </a:pPr>
            <a:r>
              <a:rPr lang="en-US" sz="1700" b="1" dirty="0">
                <a:solidFill>
                  <a:srgbClr val="0C3C44"/>
                </a:solidFill>
              </a:rPr>
              <a:t>Final business message</a:t>
            </a:r>
            <a:endParaRPr lang="en-US" sz="1700" dirty="0"/>
          </a:p>
        </p:txBody>
      </p:sp>
      <p:sp>
        <p:nvSpPr>
          <p:cNvPr id="10" name="Text 8"/>
          <p:cNvSpPr/>
          <p:nvPr/>
        </p:nvSpPr>
        <p:spPr>
          <a:xfrm>
            <a:off x="6583680" y="2057400"/>
            <a:ext cx="4315968" cy="1389888"/>
          </a:xfrm>
          <a:prstGeom prst="rect">
            <a:avLst/>
          </a:prstGeom>
          <a:noFill/>
          <a:ln/>
        </p:spPr>
        <p:txBody>
          <a:bodyPr wrap="square" lIns="254" tIns="254" rIns="254" bIns="254" rtlCol="0" anchor="ctr">
            <a:normAutofit/>
          </a:bodyPr>
          <a:lstStyle/>
          <a:p>
            <a:pPr indent="0" marL="0">
              <a:buNone/>
            </a:pPr>
            <a:r>
              <a:rPr lang="en-US" sz="1600" dirty="0">
                <a:solidFill>
                  <a:srgbClr val="182A2F"/>
                </a:solidFill>
              </a:rPr>
              <a:t>The company is profitable and has clear strengths in Computers, U.S. customer demand, and physical stores. The next management priority is to protect those strengths while reducing concentration risk, expanding online growth and understanding the post-2019 decline.</a:t>
            </a:r>
            <a:endParaRPr lang="en-US" sz="1600" dirty="0"/>
          </a:p>
        </p:txBody>
      </p:sp>
      <p:sp>
        <p:nvSpPr>
          <p:cNvPr id="11" name="Shape 9"/>
          <p:cNvSpPr/>
          <p:nvPr/>
        </p:nvSpPr>
        <p:spPr>
          <a:xfrm>
            <a:off x="6583680" y="4087368"/>
            <a:ext cx="1325880" cy="292608"/>
          </a:xfrm>
          <a:prstGeom prst="roundRect">
            <a:avLst>
              <a:gd name="adj" fmla="val 18750"/>
            </a:avLst>
          </a:prstGeom>
          <a:solidFill>
            <a:srgbClr val="FFFFFF"/>
          </a:solidFill>
          <a:ln w="12700">
            <a:solidFill>
              <a:srgbClr val="FFFFFF"/>
            </a:solidFill>
            <a:prstDash val="solid"/>
          </a:ln>
        </p:spPr>
      </p:sp>
      <p:sp>
        <p:nvSpPr>
          <p:cNvPr id="12" name="Text 10"/>
          <p:cNvSpPr/>
          <p:nvPr/>
        </p:nvSpPr>
        <p:spPr>
          <a:xfrm>
            <a:off x="6693408" y="4160520"/>
            <a:ext cx="1106424" cy="137160"/>
          </a:xfrm>
          <a:prstGeom prst="rect">
            <a:avLst/>
          </a:prstGeom>
          <a:noFill/>
          <a:ln/>
        </p:spPr>
        <p:txBody>
          <a:bodyPr wrap="square" lIns="0" tIns="0" rIns="0" bIns="0" rtlCol="0" anchor="ctr"/>
          <a:lstStyle/>
          <a:p>
            <a:pPr algn="ctr" indent="0" marL="0">
              <a:buNone/>
            </a:pPr>
            <a:r>
              <a:rPr lang="en-US" sz="800" b="1" dirty="0">
                <a:solidFill>
                  <a:srgbClr val="0C3C44"/>
                </a:solidFill>
              </a:rPr>
              <a:t>Dashboard-ready</a:t>
            </a:r>
            <a:endParaRPr lang="en-US" sz="800" dirty="0"/>
          </a:p>
        </p:txBody>
      </p:sp>
      <p:sp>
        <p:nvSpPr>
          <p:cNvPr id="13" name="Shape 11"/>
          <p:cNvSpPr/>
          <p:nvPr/>
        </p:nvSpPr>
        <p:spPr>
          <a:xfrm>
            <a:off x="8138160" y="4087368"/>
            <a:ext cx="1298448" cy="292608"/>
          </a:xfrm>
          <a:prstGeom prst="roundRect">
            <a:avLst>
              <a:gd name="adj" fmla="val 18750"/>
            </a:avLst>
          </a:prstGeom>
          <a:solidFill>
            <a:srgbClr val="FFFFFF"/>
          </a:solidFill>
          <a:ln w="12700">
            <a:solidFill>
              <a:srgbClr val="FFFFFF"/>
            </a:solidFill>
            <a:prstDash val="solid"/>
          </a:ln>
        </p:spPr>
      </p:sp>
      <p:sp>
        <p:nvSpPr>
          <p:cNvPr id="14" name="Text 12"/>
          <p:cNvSpPr/>
          <p:nvPr/>
        </p:nvSpPr>
        <p:spPr>
          <a:xfrm>
            <a:off x="8247888" y="4160520"/>
            <a:ext cx="1078992" cy="137160"/>
          </a:xfrm>
          <a:prstGeom prst="rect">
            <a:avLst/>
          </a:prstGeom>
          <a:noFill/>
          <a:ln/>
        </p:spPr>
        <p:txBody>
          <a:bodyPr wrap="square" lIns="0" tIns="0" rIns="0" bIns="0" rtlCol="0" anchor="ctr"/>
          <a:lstStyle/>
          <a:p>
            <a:pPr algn="ctr" indent="0" marL="0">
              <a:buNone/>
            </a:pPr>
            <a:r>
              <a:rPr lang="en-US" sz="800" b="1" dirty="0">
                <a:solidFill>
                  <a:srgbClr val="0C3C44"/>
                </a:solidFill>
              </a:rPr>
              <a:t>Portfolio-ready</a:t>
            </a:r>
            <a:endParaRPr lang="en-US" sz="800" dirty="0"/>
          </a:p>
        </p:txBody>
      </p:sp>
      <p:sp>
        <p:nvSpPr>
          <p:cNvPr id="15" name="Shape 13"/>
          <p:cNvSpPr/>
          <p:nvPr/>
        </p:nvSpPr>
        <p:spPr>
          <a:xfrm>
            <a:off x="9656064" y="4087368"/>
            <a:ext cx="1508760" cy="292608"/>
          </a:xfrm>
          <a:prstGeom prst="roundRect">
            <a:avLst>
              <a:gd name="adj" fmla="val 18750"/>
            </a:avLst>
          </a:prstGeom>
          <a:solidFill>
            <a:srgbClr val="FFFFFF"/>
          </a:solidFill>
          <a:ln w="12700">
            <a:solidFill>
              <a:srgbClr val="FFFFFF"/>
            </a:solidFill>
            <a:prstDash val="solid"/>
          </a:ln>
        </p:spPr>
      </p:sp>
      <p:sp>
        <p:nvSpPr>
          <p:cNvPr id="16" name="Text 14"/>
          <p:cNvSpPr/>
          <p:nvPr/>
        </p:nvSpPr>
        <p:spPr>
          <a:xfrm>
            <a:off x="9765792" y="4160520"/>
            <a:ext cx="1289304" cy="137160"/>
          </a:xfrm>
          <a:prstGeom prst="rect">
            <a:avLst/>
          </a:prstGeom>
          <a:noFill/>
          <a:ln/>
        </p:spPr>
        <p:txBody>
          <a:bodyPr wrap="square" lIns="0" tIns="0" rIns="0" bIns="0" rtlCol="0" anchor="ctr"/>
          <a:lstStyle/>
          <a:p>
            <a:pPr algn="ctr" indent="0" marL="0">
              <a:buNone/>
            </a:pPr>
            <a:r>
              <a:rPr lang="en-US" sz="800" b="1" dirty="0">
                <a:solidFill>
                  <a:srgbClr val="0C3C44"/>
                </a:solidFill>
              </a:rPr>
              <a:t>Management-focused</a:t>
            </a:r>
            <a:endParaRPr lang="en-US" sz="800" dirty="0"/>
          </a:p>
        </p:txBody>
      </p:sp>
      <p:sp>
        <p:nvSpPr>
          <p:cNvPr id="17" name="Text 15"/>
          <p:cNvSpPr/>
          <p:nvPr/>
        </p:nvSpPr>
        <p:spPr>
          <a:xfrm>
            <a:off x="11576304" y="6565392"/>
            <a:ext cx="228600" cy="137160"/>
          </a:xfrm>
          <a:prstGeom prst="rect">
            <a:avLst/>
          </a:prstGeom>
          <a:noFill/>
          <a:ln/>
        </p:spPr>
        <p:txBody>
          <a:bodyPr wrap="square" lIns="0" tIns="0" rIns="0" bIns="0" rtlCol="0" anchor="ctr"/>
          <a:lstStyle/>
          <a:p>
            <a:pPr indent="0" marL="0">
              <a:buNone/>
            </a:pPr>
            <a:r>
              <a:rPr lang="en-US" sz="700" b="1" dirty="0">
                <a:solidFill>
                  <a:srgbClr val="789197"/>
                </a:solidFill>
              </a:rPr>
              <a:t>09</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Portfolio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Electronics Retail Performance, Customer &amp; Store Analytics</dc:title>
  <dc:subject>Global Electronics Retail Analytics</dc:subject>
  <dc:creator>OpenAI</dc:creator>
  <cp:lastModifiedBy>OpenAI</cp:lastModifiedBy>
  <cp:revision>1</cp:revision>
  <dcterms:created xsi:type="dcterms:W3CDTF">2026-09-09T11:08:24Z</dcterms:created>
  <dcterms:modified xsi:type="dcterms:W3CDTF">2026-09-09T11:08:24Z</dcterms:modified>
</cp:coreProperties>
</file>